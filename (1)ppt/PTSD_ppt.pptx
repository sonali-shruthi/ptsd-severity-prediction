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5" r:id="rId1"/>
  </p:sldMasterIdLst>
  <p:sldIdLst>
    <p:sldId id="299" r:id="rId2"/>
    <p:sldId id="273" r:id="rId3"/>
    <p:sldId id="268" r:id="rId4"/>
    <p:sldId id="257" r:id="rId5"/>
    <p:sldId id="258" r:id="rId6"/>
    <p:sldId id="259" r:id="rId7"/>
    <p:sldId id="260" r:id="rId8"/>
    <p:sldId id="274" r:id="rId9"/>
    <p:sldId id="275" r:id="rId10"/>
    <p:sldId id="276" r:id="rId11"/>
    <p:sldId id="277" r:id="rId12"/>
    <p:sldId id="269" r:id="rId13"/>
    <p:sldId id="307" r:id="rId14"/>
    <p:sldId id="308" r:id="rId15"/>
    <p:sldId id="310" r:id="rId16"/>
    <p:sldId id="262" r:id="rId17"/>
    <p:sldId id="263" r:id="rId18"/>
    <p:sldId id="301" r:id="rId19"/>
    <p:sldId id="302" r:id="rId20"/>
    <p:sldId id="303" r:id="rId21"/>
    <p:sldId id="304" r:id="rId22"/>
    <p:sldId id="305" r:id="rId23"/>
    <p:sldId id="266" r:id="rId24"/>
    <p:sldId id="264" r:id="rId25"/>
    <p:sldId id="265" r:id="rId26"/>
    <p:sldId id="300" r:id="rId27"/>
    <p:sldId id="267" r:id="rId28"/>
    <p:sldId id="30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7" d="100"/>
          <a:sy n="77" d="100"/>
        </p:scale>
        <p:origin x="72"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ruthia32@gmail.com" userId="a2f2e1bd85773cb3" providerId="LiveId" clId="{F7F7F9A1-5272-450E-8267-07AE710A93B4}"/>
    <pc:docChg chg="undo redo custSel modSld">
      <pc:chgData name="vishruthia32@gmail.com" userId="a2f2e1bd85773cb3" providerId="LiveId" clId="{F7F7F9A1-5272-450E-8267-07AE710A93B4}" dt="2024-11-20T07:24:35.432" v="26" actId="14100"/>
      <pc:docMkLst>
        <pc:docMk/>
      </pc:docMkLst>
      <pc:sldChg chg="modSp mod">
        <pc:chgData name="vishruthia32@gmail.com" userId="a2f2e1bd85773cb3" providerId="LiveId" clId="{F7F7F9A1-5272-450E-8267-07AE710A93B4}" dt="2024-11-20T07:22:09.746" v="10" actId="255"/>
        <pc:sldMkLst>
          <pc:docMk/>
          <pc:sldMk cId="3665039531" sldId="257"/>
        </pc:sldMkLst>
        <pc:graphicFrameChg chg="modGraphic">
          <ac:chgData name="vishruthia32@gmail.com" userId="a2f2e1bd85773cb3" providerId="LiveId" clId="{F7F7F9A1-5272-450E-8267-07AE710A93B4}" dt="2024-11-20T07:22:09.746" v="10" actId="255"/>
          <ac:graphicFrameMkLst>
            <pc:docMk/>
            <pc:sldMk cId="3665039531" sldId="257"/>
            <ac:graphicFrameMk id="4" creationId="{E9B658F2-9299-020F-A6AA-3E72FF1D5C08}"/>
          </ac:graphicFrameMkLst>
        </pc:graphicFrameChg>
      </pc:sldChg>
      <pc:sldChg chg="delSp modSp mod">
        <pc:chgData name="vishruthia32@gmail.com" userId="a2f2e1bd85773cb3" providerId="LiveId" clId="{F7F7F9A1-5272-450E-8267-07AE710A93B4}" dt="2024-11-20T07:23:54.554" v="17" actId="1076"/>
        <pc:sldMkLst>
          <pc:docMk/>
          <pc:sldMk cId="1569923857" sldId="259"/>
        </pc:sldMkLst>
        <pc:spChg chg="del">
          <ac:chgData name="vishruthia32@gmail.com" userId="a2f2e1bd85773cb3" providerId="LiveId" clId="{F7F7F9A1-5272-450E-8267-07AE710A93B4}" dt="2024-11-20T07:23:05.824" v="13" actId="21"/>
          <ac:spMkLst>
            <pc:docMk/>
            <pc:sldMk cId="1569923857" sldId="259"/>
            <ac:spMk id="2" creationId="{335C982E-E1D1-F2CA-7C1B-4A5EF8C531D4}"/>
          </ac:spMkLst>
        </pc:spChg>
        <pc:graphicFrameChg chg="mod modGraphic">
          <ac:chgData name="vishruthia32@gmail.com" userId="a2f2e1bd85773cb3" providerId="LiveId" clId="{F7F7F9A1-5272-450E-8267-07AE710A93B4}" dt="2024-11-20T07:23:54.554" v="17" actId="1076"/>
          <ac:graphicFrameMkLst>
            <pc:docMk/>
            <pc:sldMk cId="1569923857" sldId="259"/>
            <ac:graphicFrameMk id="10" creationId="{7BCB7AEA-8545-3094-3CA4-7F7C73A9BAC7}"/>
          </ac:graphicFrameMkLst>
        </pc:graphicFrameChg>
      </pc:sldChg>
      <pc:sldChg chg="modSp mod">
        <pc:chgData name="vishruthia32@gmail.com" userId="a2f2e1bd85773cb3" providerId="LiveId" clId="{F7F7F9A1-5272-450E-8267-07AE710A93B4}" dt="2024-11-20T07:24:11.864" v="19" actId="1076"/>
        <pc:sldMkLst>
          <pc:docMk/>
          <pc:sldMk cId="1194368992" sldId="260"/>
        </pc:sldMkLst>
        <pc:graphicFrameChg chg="mod modGraphic">
          <ac:chgData name="vishruthia32@gmail.com" userId="a2f2e1bd85773cb3" providerId="LiveId" clId="{F7F7F9A1-5272-450E-8267-07AE710A93B4}" dt="2024-11-20T07:24:11.864" v="19" actId="1076"/>
          <ac:graphicFrameMkLst>
            <pc:docMk/>
            <pc:sldMk cId="1194368992" sldId="260"/>
            <ac:graphicFrameMk id="16" creationId="{17E299A1-0941-591E-B628-7DEE955F7479}"/>
          </ac:graphicFrameMkLst>
        </pc:graphicFrameChg>
      </pc:sldChg>
      <pc:sldChg chg="modSp mod">
        <pc:chgData name="vishruthia32@gmail.com" userId="a2f2e1bd85773cb3" providerId="LiveId" clId="{F7F7F9A1-5272-450E-8267-07AE710A93B4}" dt="2024-11-20T07:21:04.483" v="1" actId="20577"/>
        <pc:sldMkLst>
          <pc:docMk/>
          <pc:sldMk cId="2821590368" sldId="273"/>
        </pc:sldMkLst>
        <pc:spChg chg="mod">
          <ac:chgData name="vishruthia32@gmail.com" userId="a2f2e1bd85773cb3" providerId="LiveId" clId="{F7F7F9A1-5272-450E-8267-07AE710A93B4}" dt="2024-11-20T07:21:04.483" v="1" actId="20577"/>
          <ac:spMkLst>
            <pc:docMk/>
            <pc:sldMk cId="2821590368" sldId="273"/>
            <ac:spMk id="3" creationId="{A74A31D0-C2CE-7C23-2BEC-31F7F57A9E80}"/>
          </ac:spMkLst>
        </pc:spChg>
      </pc:sldChg>
      <pc:sldChg chg="modSp mod">
        <pc:chgData name="vishruthia32@gmail.com" userId="a2f2e1bd85773cb3" providerId="LiveId" clId="{F7F7F9A1-5272-450E-8267-07AE710A93B4}" dt="2024-11-20T07:24:35.432" v="26" actId="14100"/>
        <pc:sldMkLst>
          <pc:docMk/>
          <pc:sldMk cId="1284807304" sldId="276"/>
        </pc:sldMkLst>
        <pc:spChg chg="mod">
          <ac:chgData name="vishruthia32@gmail.com" userId="a2f2e1bd85773cb3" providerId="LiveId" clId="{F7F7F9A1-5272-450E-8267-07AE710A93B4}" dt="2024-11-20T07:24:35.432" v="26" actId="14100"/>
          <ac:spMkLst>
            <pc:docMk/>
            <pc:sldMk cId="1284807304" sldId="276"/>
            <ac:spMk id="3" creationId="{48A85697-EAF4-9D91-E870-63CBF7E5D9F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D88B85-3EF1-4620-9A85-6B01C45C52A7}"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156608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D88B85-3EF1-4620-9A85-6B01C45C52A7}"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367175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D88B85-3EF1-4620-9A85-6B01C45C52A7}"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2833996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D88B85-3EF1-4620-9A85-6B01C45C52A7}" type="datetimeFigureOut">
              <a:rPr lang="en-IN" smtClean="0"/>
              <a:t>20-11-2024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111909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D88B85-3EF1-4620-9A85-6B01C45C52A7}" type="datetimeFigureOut">
              <a:rPr lang="en-IN" smtClean="0"/>
              <a:t>20-11-2024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2962125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D88B85-3EF1-4620-9A85-6B01C45C52A7}" type="datetimeFigureOut">
              <a:rPr lang="en-IN" smtClean="0"/>
              <a:t>20-11-2024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1696530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D88B85-3EF1-4620-9A85-6B01C45C52A7}" type="datetimeFigureOut">
              <a:rPr lang="en-IN" smtClean="0"/>
              <a:t>20-11-2024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687522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D88B85-3EF1-4620-9A85-6B01C45C52A7}" type="datetimeFigureOut">
              <a:rPr lang="en-IN" smtClean="0"/>
              <a:t>20-11-2024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148142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D88B85-3EF1-4620-9A85-6B01C45C52A7}" type="datetimeFigureOut">
              <a:rPr lang="en-IN" smtClean="0"/>
              <a:t>20-11-2024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36580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D88B85-3EF1-4620-9A85-6B01C45C52A7}"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1421412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D88B85-3EF1-4620-9A85-6B01C45C52A7}"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FA3E0C-9437-4DE2-A374-090423016B4E}" type="slidenum">
              <a:rPr lang="en-IN" smtClean="0"/>
              <a:t>‹#›</a:t>
            </a:fld>
            <a:endParaRPr lang="en-IN"/>
          </a:p>
        </p:txBody>
      </p:sp>
    </p:spTree>
    <p:extLst>
      <p:ext uri="{BB962C8B-B14F-4D97-AF65-F5344CB8AC3E}">
        <p14:creationId xmlns:p14="http://schemas.microsoft.com/office/powerpoint/2010/main" val="2990417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D88B85-3EF1-4620-9A85-6B01C45C52A7}" type="datetimeFigureOut">
              <a:rPr lang="en-IN" smtClean="0"/>
              <a:t>20-11-2024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A3E0C-9437-4DE2-A374-090423016B4E}" type="slidenum">
              <a:rPr lang="en-IN" smtClean="0"/>
              <a:t>‹#›</a:t>
            </a:fld>
            <a:endParaRPr lang="en-IN"/>
          </a:p>
        </p:txBody>
      </p:sp>
    </p:spTree>
    <p:extLst>
      <p:ext uri="{BB962C8B-B14F-4D97-AF65-F5344CB8AC3E}">
        <p14:creationId xmlns:p14="http://schemas.microsoft.com/office/powerpoint/2010/main" val="2296894000"/>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186/s40359-024-01713-w"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6AC3D-FF04-F357-BEA1-8D0A126B58E6}"/>
              </a:ext>
            </a:extLst>
          </p:cNvPr>
          <p:cNvSpPr>
            <a:spLocks noGrp="1"/>
          </p:cNvSpPr>
          <p:nvPr>
            <p:ph type="title"/>
          </p:nvPr>
        </p:nvSpPr>
        <p:spPr>
          <a:xfrm>
            <a:off x="1603529" y="1722548"/>
            <a:ext cx="9774386" cy="1320800"/>
          </a:xfrm>
        </p:spPr>
        <p:txBody>
          <a:bodyPr>
            <a:normAutofit fontScale="90000"/>
          </a:bodyPr>
          <a:lstStyle/>
          <a:p>
            <a:r>
              <a:rPr lang="en-US" altLang="en-US" sz="4900" b="1" dirty="0">
                <a:latin typeface="Times" panose="02020603050405020304" pitchFamily="18" charset="0"/>
                <a:cs typeface="Arial" panose="020B0604020202020204" pitchFamily="34" charset="0"/>
              </a:rPr>
              <a:t>        </a:t>
            </a:r>
            <a:r>
              <a:rPr lang="en-US" altLang="en-US" sz="4900" b="1" dirty="0">
                <a:solidFill>
                  <a:schemeClr val="accent2">
                    <a:lumMod val="75000"/>
                  </a:schemeClr>
                </a:solidFill>
                <a:latin typeface="Times" panose="02020603050405020304" pitchFamily="18" charset="0"/>
                <a:cs typeface="Arial" panose="020B0604020202020204" pitchFamily="34" charset="0"/>
              </a:rPr>
              <a:t>Prediction Of  PTSD Severity </a:t>
            </a:r>
            <a:br>
              <a:rPr lang="en-US" altLang="en-US" sz="4900" b="1" dirty="0">
                <a:solidFill>
                  <a:schemeClr val="accent2">
                    <a:lumMod val="75000"/>
                  </a:schemeClr>
                </a:solidFill>
                <a:latin typeface="Times" panose="02020603050405020304" pitchFamily="18" charset="0"/>
                <a:cs typeface="Arial" panose="020B0604020202020204" pitchFamily="34" charset="0"/>
              </a:rPr>
            </a:br>
            <a:r>
              <a:rPr lang="en-US" altLang="en-US" sz="4900" b="1" dirty="0">
                <a:solidFill>
                  <a:schemeClr val="accent2">
                    <a:lumMod val="75000"/>
                  </a:schemeClr>
                </a:solidFill>
                <a:latin typeface="Times" panose="02020603050405020304" pitchFamily="18" charset="0"/>
                <a:cs typeface="Arial" panose="020B0604020202020204" pitchFamily="34" charset="0"/>
              </a:rPr>
              <a:t>			  In  Veterans</a:t>
            </a:r>
            <a:br>
              <a:rPr lang="en-US" altLang="en-US" sz="4900" b="1" dirty="0">
                <a:solidFill>
                  <a:schemeClr val="accent2">
                    <a:lumMod val="75000"/>
                  </a:schemeClr>
                </a:solidFill>
                <a:latin typeface="Times" panose="02020603050405020304" pitchFamily="18" charset="0"/>
                <a:cs typeface="Arial" panose="020B0604020202020204" pitchFamily="34" charset="0"/>
              </a:rPr>
            </a:br>
            <a:endParaRPr lang="en-IN" dirty="0">
              <a:solidFill>
                <a:schemeClr val="accent2">
                  <a:lumMod val="75000"/>
                </a:schemeClr>
              </a:solidFill>
            </a:endParaRPr>
          </a:p>
        </p:txBody>
      </p:sp>
      <p:sp>
        <p:nvSpPr>
          <p:cNvPr id="3" name="Content Placeholder 2">
            <a:extLst>
              <a:ext uri="{FF2B5EF4-FFF2-40B4-BE49-F238E27FC236}">
                <a16:creationId xmlns:a16="http://schemas.microsoft.com/office/drawing/2014/main" id="{4480EC83-A749-ABB9-E61C-331D8C1D3BBB}"/>
              </a:ext>
            </a:extLst>
          </p:cNvPr>
          <p:cNvSpPr>
            <a:spLocks noGrp="1"/>
          </p:cNvSpPr>
          <p:nvPr>
            <p:ph idx="1"/>
          </p:nvPr>
        </p:nvSpPr>
        <p:spPr>
          <a:xfrm>
            <a:off x="814085" y="2770126"/>
            <a:ext cx="9980916" cy="3880773"/>
          </a:xfrm>
        </p:spPr>
        <p:txBody>
          <a:bodyPr vert="horz" lIns="91440" tIns="45720" rIns="91440" bIns="45720" rtlCol="0" anchor="t">
            <a:normAutofit lnSpcReduction="10000"/>
          </a:bodyPr>
          <a:lstStyle/>
          <a:p>
            <a:pPr algn="ctr">
              <a:spcBef>
                <a:spcPts val="500"/>
              </a:spcBef>
              <a:buNone/>
            </a:pPr>
            <a:endParaRPr lang="en-IN" altLang="en-US" sz="800" dirty="0">
              <a:latin typeface="Times New Roman" panose="02020603050405020304" pitchFamily="18" charset="0"/>
              <a:cs typeface="Times New Roman" panose="02020603050405020304" pitchFamily="18" charset="0"/>
            </a:endParaRPr>
          </a:p>
          <a:p>
            <a:pPr algn="ctr" eaLnBrk="1" hangingPunct="1">
              <a:buFontTx/>
              <a:buNone/>
            </a:pPr>
            <a:endParaRPr lang="en-IN" altLang="en-US" sz="800" b="1" dirty="0">
              <a:latin typeface="Times New Roman" panose="02020603050405020304" pitchFamily="18" charset="0"/>
              <a:cs typeface="Times New Roman" panose="02020603050405020304" pitchFamily="18" charset="0"/>
            </a:endParaRPr>
          </a:p>
          <a:p>
            <a:pPr algn="ctr" eaLnBrk="1" hangingPunct="1">
              <a:buFontTx/>
              <a:buNone/>
            </a:pPr>
            <a:endParaRPr lang="en-IN" altLang="en-US" sz="800" b="1" dirty="0">
              <a:latin typeface="Times New Roman" panose="02020603050405020304" pitchFamily="18" charset="0"/>
              <a:cs typeface="Times New Roman" panose="02020603050405020304" pitchFamily="18" charset="0"/>
            </a:endParaRPr>
          </a:p>
          <a:p>
            <a:pPr algn="ctr" eaLnBrk="1" hangingPunct="1">
              <a:buFontTx/>
              <a:buNone/>
            </a:pPr>
            <a:endParaRPr lang="en-IN" altLang="en-US" sz="800" b="1" dirty="0">
              <a:latin typeface="Times New Roman" panose="02020603050405020304" pitchFamily="18" charset="0"/>
              <a:cs typeface="Times New Roman" panose="02020603050405020304" pitchFamily="18" charset="0"/>
            </a:endParaRPr>
          </a:p>
          <a:p>
            <a:pPr algn="ctr" eaLnBrk="1" hangingPunct="1">
              <a:buFontTx/>
              <a:buNone/>
            </a:pPr>
            <a:endParaRPr lang="en-IN" altLang="en-US" sz="800" b="1" dirty="0">
              <a:latin typeface="Times New Roman" panose="02020603050405020304" pitchFamily="18" charset="0"/>
              <a:cs typeface="Times New Roman" panose="02020603050405020304" pitchFamily="18" charset="0"/>
            </a:endParaRPr>
          </a:p>
          <a:p>
            <a:pPr algn="ctr" eaLnBrk="1" hangingPunct="1">
              <a:buFontTx/>
              <a:buNone/>
            </a:pP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           Project Guide: </a:t>
            </a:r>
            <a:r>
              <a:rPr lang="en-IN" altLang="en-US" sz="2400" b="1" dirty="0" err="1">
                <a:solidFill>
                  <a:schemeClr val="accent2">
                    <a:lumMod val="75000"/>
                  </a:schemeClr>
                </a:solidFill>
                <a:latin typeface="Times New Roman" panose="02020603050405020304" pitchFamily="18" charset="0"/>
                <a:cs typeface="Times New Roman" panose="02020603050405020304" pitchFamily="18" charset="0"/>
              </a:rPr>
              <a:t>Dr.Mohamed</a:t>
            </a: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 </a:t>
            </a:r>
            <a:r>
              <a:rPr lang="en-IN" altLang="en-US" sz="2400" b="1" dirty="0" err="1">
                <a:solidFill>
                  <a:schemeClr val="accent2">
                    <a:lumMod val="75000"/>
                  </a:schemeClr>
                </a:solidFill>
                <a:latin typeface="Times New Roman" panose="02020603050405020304" pitchFamily="18" charset="0"/>
                <a:cs typeface="Times New Roman" panose="02020603050405020304" pitchFamily="18" charset="0"/>
              </a:rPr>
              <a:t>Fathimal</a:t>
            </a:r>
            <a:r>
              <a:rPr lang="en-IN" altLang="en-US" sz="2400" dirty="0">
                <a:solidFill>
                  <a:schemeClr val="accent2">
                    <a:lumMod val="75000"/>
                  </a:schemeClr>
                </a:solidFill>
                <a:latin typeface="Arial" panose="020B0604020202020204" pitchFamily="34" charset="0"/>
                <a:cs typeface="Arial" panose="020B0604020202020204" pitchFamily="34" charset="0"/>
              </a:rPr>
              <a:t> </a:t>
            </a:r>
            <a:r>
              <a:rPr lang="en-IN" altLang="en-US" sz="2400" dirty="0">
                <a:solidFill>
                  <a:schemeClr val="accent2">
                    <a:lumMod val="75000"/>
                  </a:schemeClr>
                </a:solidFill>
                <a:latin typeface="Times New Roman" panose="02020603050405020304" pitchFamily="18" charset="0"/>
                <a:cs typeface="Times New Roman" panose="02020603050405020304" pitchFamily="18" charset="0"/>
              </a:rPr>
              <a:t> .</a:t>
            </a: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P  </a:t>
            </a:r>
            <a:r>
              <a:rPr lang="en-IN" altLang="en-US" sz="2400" dirty="0">
                <a:solidFill>
                  <a:schemeClr val="accent2">
                    <a:lumMod val="75000"/>
                  </a:schemeClr>
                </a:solidFill>
                <a:latin typeface="Times New Roman" panose="02020603050405020304" pitchFamily="18" charset="0"/>
                <a:cs typeface="Times New Roman" panose="02020603050405020304" pitchFamily="18" charset="0"/>
              </a:rPr>
              <a:t>        </a:t>
            </a:r>
            <a:endParaRPr lang="en-IN" altLang="en-US" sz="2400" b="1" dirty="0">
              <a:latin typeface="Times New Roman" panose="02020603050405020304" pitchFamily="18" charset="0"/>
              <a:cs typeface="Times New Roman" panose="02020603050405020304" pitchFamily="18" charset="0"/>
            </a:endParaRPr>
          </a:p>
          <a:p>
            <a:pPr algn="ctr" eaLnBrk="1" hangingPunct="1">
              <a:buFontTx/>
              <a:buNone/>
            </a:pPr>
            <a:endParaRPr lang="en-IN" altLang="en-US" sz="800" b="1" dirty="0">
              <a:solidFill>
                <a:schemeClr val="accent2">
                  <a:lumMod val="75000"/>
                </a:schemeClr>
              </a:solidFill>
              <a:latin typeface="Times New Roman" panose="02020603050405020304" pitchFamily="18" charset="0"/>
              <a:cs typeface="Times New Roman" panose="02020603050405020304" pitchFamily="18" charset="0"/>
            </a:endParaRPr>
          </a:p>
          <a:p>
            <a:pPr algn="ctr" eaLnBrk="1" hangingPunct="1">
              <a:buFontTx/>
              <a:buNone/>
            </a:pP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         Team Members:</a:t>
            </a:r>
          </a:p>
          <a:p>
            <a:pPr algn="ctr" eaLnBrk="1" hangingPunct="1">
              <a:buFontTx/>
              <a:buNone/>
            </a:pPr>
            <a:r>
              <a:rPr lang="en-IN" altLang="en-US" sz="2400" b="1" dirty="0">
                <a:solidFill>
                  <a:schemeClr val="accent2">
                    <a:lumMod val="75000"/>
                  </a:schemeClr>
                </a:solidFill>
                <a:latin typeface="Times New Roman"/>
                <a:cs typeface="Times New Roman"/>
              </a:rPr>
              <a:t>		</a:t>
            </a:r>
            <a:r>
              <a:rPr lang="en-IN" altLang="en-US" sz="2400" b="1" dirty="0" err="1">
                <a:solidFill>
                  <a:schemeClr val="accent2">
                    <a:lumMod val="75000"/>
                  </a:schemeClr>
                </a:solidFill>
                <a:latin typeface="Times New Roman"/>
                <a:cs typeface="Times New Roman"/>
              </a:rPr>
              <a:t>Vishruthi</a:t>
            </a:r>
            <a:r>
              <a:rPr lang="en-IN" altLang="en-US" sz="2400" b="1" dirty="0">
                <a:solidFill>
                  <a:schemeClr val="accent2">
                    <a:lumMod val="75000"/>
                  </a:schemeClr>
                </a:solidFill>
                <a:latin typeface="Times New Roman"/>
                <a:cs typeface="Times New Roman"/>
              </a:rPr>
              <a:t> A - 2022103022</a:t>
            </a:r>
          </a:p>
          <a:p>
            <a:pPr algn="ctr" eaLnBrk="1" hangingPunct="1">
              <a:buFontTx/>
              <a:buNone/>
            </a:pP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           Sonali Shruthi A - 2022103510</a:t>
            </a:r>
          </a:p>
          <a:p>
            <a:pPr algn="ctr">
              <a:buNone/>
            </a:pPr>
            <a:r>
              <a:rPr lang="en-IN" altLang="en-US" sz="2400" b="1" dirty="0">
                <a:solidFill>
                  <a:schemeClr val="accent2">
                    <a:lumMod val="75000"/>
                  </a:schemeClr>
                </a:solidFill>
                <a:latin typeface="Times New Roman"/>
                <a:cs typeface="Times New Roman"/>
              </a:rPr>
              <a:t>         </a:t>
            </a:r>
            <a:r>
              <a:rPr lang="en-IN" altLang="en-US" sz="2400" b="1" dirty="0" err="1">
                <a:solidFill>
                  <a:schemeClr val="accent2">
                    <a:lumMod val="75000"/>
                  </a:schemeClr>
                </a:solidFill>
                <a:latin typeface="Times New Roman"/>
                <a:cs typeface="Times New Roman"/>
              </a:rPr>
              <a:t>Sarashivasri</a:t>
            </a:r>
            <a:r>
              <a:rPr lang="en-IN" altLang="en-US" sz="2400" b="1" dirty="0">
                <a:solidFill>
                  <a:schemeClr val="accent2">
                    <a:lumMod val="75000"/>
                  </a:schemeClr>
                </a:solidFill>
                <a:latin typeface="Times New Roman"/>
                <a:cs typeface="Times New Roman"/>
              </a:rPr>
              <a:t> S - 2022103520</a:t>
            </a:r>
            <a:endParaRPr lang="en-IN" altLang="en-US" sz="2400" dirty="0">
              <a:solidFill>
                <a:schemeClr val="accent2">
                  <a:lumMod val="75000"/>
                </a:schemeClr>
              </a:solidFill>
              <a:latin typeface="Times New Roman"/>
              <a:cs typeface="Times New Roman"/>
            </a:endParaRPr>
          </a:p>
          <a:p>
            <a:pPr algn="ctr">
              <a:spcBef>
                <a:spcPts val="500"/>
              </a:spcBef>
              <a:buNone/>
            </a:pPr>
            <a:r>
              <a:rPr lang="en-IN" altLang="en-US" sz="2400" b="1" dirty="0">
                <a:solidFill>
                  <a:schemeClr val="accent2">
                    <a:lumMod val="75000"/>
                  </a:schemeClr>
                </a:solidFill>
                <a:latin typeface="Times New Roman" panose="02020603050405020304" pitchFamily="18" charset="0"/>
                <a:cs typeface="Times New Roman" panose="02020603050405020304" pitchFamily="18" charset="0"/>
              </a:rPr>
              <a:t>                                </a:t>
            </a:r>
          </a:p>
          <a:p>
            <a:endParaRPr lang="en-IN" dirty="0"/>
          </a:p>
        </p:txBody>
      </p:sp>
      <p:pic>
        <p:nvPicPr>
          <p:cNvPr id="4" name="Picture 3">
            <a:extLst>
              <a:ext uri="{FF2B5EF4-FFF2-40B4-BE49-F238E27FC236}">
                <a16:creationId xmlns:a16="http://schemas.microsoft.com/office/drawing/2014/main" id="{82B4506E-2260-88A1-CF89-663B0C3CB63B}"/>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304653" y="207101"/>
            <a:ext cx="1431925" cy="1199535"/>
          </a:xfrm>
          <a:prstGeom prst="rect">
            <a:avLst/>
          </a:prstGeom>
        </p:spPr>
      </p:pic>
    </p:spTree>
    <p:extLst>
      <p:ext uri="{BB962C8B-B14F-4D97-AF65-F5344CB8AC3E}">
        <p14:creationId xmlns:p14="http://schemas.microsoft.com/office/powerpoint/2010/main" val="752457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A31D0-C2CE-7C23-2BEC-31F7F57A9E80}"/>
              </a:ext>
            </a:extLst>
          </p:cNvPr>
          <p:cNvSpPr txBox="1"/>
          <p:nvPr/>
        </p:nvSpPr>
        <p:spPr>
          <a:xfrm>
            <a:off x="1173480" y="2009810"/>
            <a:ext cx="9845040" cy="3693319"/>
          </a:xfrm>
          <a:prstGeom prst="rect">
            <a:avLst/>
          </a:prstGeom>
          <a:noFill/>
        </p:spPr>
        <p:txBody>
          <a:bodyPr wrap="square">
            <a:spAutoFit/>
          </a:bodyPr>
          <a:lstStyle/>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PTSD is a pervasive mental health condition that significantly impacts veterans' emotional, social, and physical well-being.</a:t>
            </a:r>
          </a:p>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 Traditional diagnostic methods often rely on subjective self-reports and clinical evaluations, which can lead to inconsistencies and delayed interventions. </a:t>
            </a:r>
          </a:p>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To address these limitations, this project leverages diverse data sources, including medical records, psychological assessments, wearable sensor data, and self-reported symptoms, to build accurate, data-driven predictive models. </a:t>
            </a:r>
          </a:p>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This project aims to predict the severity of Post-Traumatic Stress Disorder (PTSD) in veterans using machine learning (ML) techniques.</a:t>
            </a:r>
          </a:p>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 By employing high-accuracy ML algorithms, the project seeks to identify veterans at high risk of severe PTSD early, enabling timely and personalized treatment. </a:t>
            </a:r>
          </a:p>
          <a:p>
            <a:pPr marL="285750"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This approach has the potential to improve recovery outcomes, enhance quality of life, and reduce the overall burden of PTSD among veterans</a:t>
            </a:r>
            <a:r>
              <a:rPr lang="en-IN" dirty="0"/>
              <a:t>.</a:t>
            </a:r>
          </a:p>
        </p:txBody>
      </p:sp>
      <p:sp>
        <p:nvSpPr>
          <p:cNvPr id="4" name="TextBox 3">
            <a:extLst>
              <a:ext uri="{FF2B5EF4-FFF2-40B4-BE49-F238E27FC236}">
                <a16:creationId xmlns:a16="http://schemas.microsoft.com/office/drawing/2014/main" id="{E95C4238-69E1-7917-9A23-7F1F835EFFFD}"/>
              </a:ext>
            </a:extLst>
          </p:cNvPr>
          <p:cNvSpPr txBox="1"/>
          <p:nvPr/>
        </p:nvSpPr>
        <p:spPr>
          <a:xfrm>
            <a:off x="857492" y="984427"/>
            <a:ext cx="8610600" cy="707886"/>
          </a:xfrm>
          <a:prstGeom prst="rect">
            <a:avLst/>
          </a:prstGeom>
          <a:noFill/>
        </p:spPr>
        <p:txBody>
          <a:bodyPr wrap="square" rtlCol="0">
            <a:spAutoFit/>
          </a:bodyPr>
          <a:lstStyle/>
          <a:p>
            <a:r>
              <a:rPr lang="en-IN" sz="4000" dirty="0">
                <a:solidFill>
                  <a:schemeClr val="accent1">
                    <a:lumMod val="75000"/>
                  </a:schemeClr>
                </a:solidFill>
                <a:latin typeface="EB Garamond SemiBold" panose="00000700000000000000" pitchFamily="2" charset="0"/>
                <a:ea typeface="EB Garamond SemiBold" panose="00000700000000000000" pitchFamily="2" charset="0"/>
              </a:rPr>
              <a:t>INTRODUCTION</a:t>
            </a:r>
          </a:p>
        </p:txBody>
      </p:sp>
    </p:spTree>
    <p:extLst>
      <p:ext uri="{BB962C8B-B14F-4D97-AF65-F5344CB8AC3E}">
        <p14:creationId xmlns:p14="http://schemas.microsoft.com/office/powerpoint/2010/main" val="2821590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2C07E2-7A33-FFE2-E044-3AA2BB3FEC04}"/>
              </a:ext>
            </a:extLst>
          </p:cNvPr>
          <p:cNvSpPr txBox="1"/>
          <p:nvPr/>
        </p:nvSpPr>
        <p:spPr>
          <a:xfrm>
            <a:off x="1067186" y="1916021"/>
            <a:ext cx="10271760" cy="3693319"/>
          </a:xfrm>
          <a:prstGeom prst="rect">
            <a:avLst/>
          </a:prstGeom>
          <a:noFill/>
        </p:spPr>
        <p:txBody>
          <a:bodyPr wrap="square">
            <a:spAutoFit/>
          </a:bodyPr>
          <a:lstStyle/>
          <a:p>
            <a:pPr marL="342900" indent="-342900" eaLnBrk="1" fontAlgn="auto" hangingPunct="1">
              <a:spcBef>
                <a:spcPts val="0"/>
              </a:spcBef>
              <a:spcAft>
                <a:spcPts val="0"/>
              </a:spcAft>
              <a:buClr>
                <a:schemeClr val="accent1"/>
              </a:buClr>
              <a:buSzPct val="100000"/>
              <a:buFont typeface="Wingdings" panose="05000000000000000000" pitchFamily="2" charset="2"/>
              <a:buChar char="Ø"/>
              <a:defRPr sz="1800" b="0" i="0" u="none" strike="noStrike" kern="0" cap="none" spc="0" baseline="0">
                <a:solidFill>
                  <a:srgbClr val="000000"/>
                </a:solidFill>
                <a:uFillTx/>
              </a:defRPr>
            </a:pPr>
            <a:r>
              <a:rPr lang="en-US" sz="1800" dirty="0">
                <a:latin typeface="Arial" panose="020B0604020202020204" pitchFamily="34" charset="0"/>
                <a:cs typeface="Arial" panose="020B0604020202020204" pitchFamily="34" charset="0"/>
              </a:rPr>
              <a:t>To develop and implement a machine learning model that accurately predicts the severity of Post-Traumatic Stress Disorder (PTSD) in veterans by analyzing diverse data sources such as medical records, psychological assessments, wearable device data, and self-reported symptoms.</a:t>
            </a:r>
          </a:p>
          <a:p>
            <a:pPr eaLnBrk="1" fontAlgn="auto" hangingPunct="1">
              <a:spcBef>
                <a:spcPts val="0"/>
              </a:spcBef>
              <a:spcAft>
                <a:spcPts val="0"/>
              </a:spcAft>
              <a:buSzPct val="100000"/>
              <a:defRPr sz="1800" b="0" i="0" u="none" strike="noStrike" kern="0" cap="none" spc="0" baseline="0">
                <a:solidFill>
                  <a:srgbClr val="000000"/>
                </a:solidFill>
                <a:uFillTx/>
              </a:defRPr>
            </a:pPr>
            <a:r>
              <a:rPr lang="en-US" sz="1800" dirty="0">
                <a:latin typeface="Arial" panose="020B0604020202020204" pitchFamily="34" charset="0"/>
                <a:cs typeface="Arial" panose="020B0604020202020204" pitchFamily="34" charset="0"/>
              </a:rPr>
              <a:t> </a:t>
            </a:r>
          </a:p>
          <a:p>
            <a:pPr marL="342900" indent="-342900" eaLnBrk="1" fontAlgn="auto" hangingPunct="1">
              <a:spcBef>
                <a:spcPts val="0"/>
              </a:spcBef>
              <a:spcAft>
                <a:spcPts val="0"/>
              </a:spcAft>
              <a:buClr>
                <a:schemeClr val="accent1"/>
              </a:buClr>
              <a:buSzPct val="100000"/>
              <a:buFont typeface="Wingdings" panose="05000000000000000000" pitchFamily="2" charset="2"/>
              <a:buChar char="Ø"/>
              <a:defRPr sz="1800" b="0" i="0" u="none" strike="noStrike" kern="0" cap="none" spc="0" baseline="0">
                <a:solidFill>
                  <a:srgbClr val="000000"/>
                </a:solidFill>
                <a:uFillTx/>
              </a:defRPr>
            </a:pPr>
            <a:r>
              <a:rPr lang="en-US" sz="1800" dirty="0">
                <a:latin typeface="Arial" panose="020B0604020202020204" pitchFamily="34" charset="0"/>
                <a:cs typeface="Arial" panose="020B0604020202020204" pitchFamily="34" charset="0"/>
              </a:rPr>
              <a:t>This prediction will enable healthcare providers to identify high-risk individuals early, facilitate timely intervention, and enhance personalized treatment plans, ultimately improving the recovery outcomes and quality of life for veterans</a:t>
            </a:r>
          </a:p>
          <a:p>
            <a:pPr marL="342900" indent="-342900" eaLnBrk="1" fontAlgn="auto" hangingPunct="1">
              <a:spcBef>
                <a:spcPts val="0"/>
              </a:spcBef>
              <a:spcAft>
                <a:spcPts val="0"/>
              </a:spcAft>
              <a:buClr>
                <a:schemeClr val="accent1"/>
              </a:buClr>
              <a:buSzPct val="100000"/>
              <a:buFont typeface="Wingdings" panose="05000000000000000000" pitchFamily="2" charset="2"/>
              <a:buChar char="Ø"/>
              <a:defRPr sz="1800" b="0" i="0" u="none" strike="noStrike" kern="0" cap="none" spc="0" baseline="0">
                <a:solidFill>
                  <a:srgbClr val="000000"/>
                </a:solidFill>
                <a:uFillTx/>
              </a:defRPr>
            </a:pPr>
            <a:endParaRPr lang="en-US" kern="0" dirty="0">
              <a:solidFill>
                <a:srgbClr val="000000"/>
              </a:solidFill>
              <a:latin typeface="Arial" panose="020B0604020202020204" pitchFamily="34" charset="0"/>
              <a:cs typeface="Arial" panose="020B0604020202020204" pitchFamily="34" charset="0"/>
            </a:endParaRPr>
          </a:p>
          <a:p>
            <a:pPr marL="342900" indent="-342900">
              <a:buClr>
                <a:schemeClr val="accent1"/>
              </a:buClr>
              <a:buSzPct val="100000"/>
              <a:buFont typeface="Wingdings" panose="05000000000000000000" pitchFamily="2" charset="2"/>
              <a:buChar char="Ø"/>
              <a:defRPr sz="1800" b="0" i="0" u="none" strike="noStrike" kern="0" cap="none" spc="0" baseline="0">
                <a:solidFill>
                  <a:srgbClr val="000000"/>
                </a:solidFill>
                <a:uFillTx/>
              </a:defRPr>
            </a:pPr>
            <a:r>
              <a:rPr lang="en-US" altLang="en-US" sz="1800" dirty="0">
                <a:latin typeface="Arial" panose="020B0604020202020204" pitchFamily="34" charset="0"/>
                <a:cs typeface="Arial" panose="020B0604020202020204" pitchFamily="34" charset="0"/>
              </a:rPr>
              <a:t>By identifying key patterns and risk factors associated with PTSD, the model enables early detection of high-risk individuals. This approach supports timely, personalized interventions, improving care quality and recovery outcomes for veterans.</a:t>
            </a:r>
          </a:p>
          <a:p>
            <a:pPr marL="342900" indent="-342900" eaLnBrk="1" fontAlgn="auto" hangingPunct="1">
              <a:spcBef>
                <a:spcPts val="0"/>
              </a:spcBef>
              <a:spcAft>
                <a:spcPts val="0"/>
              </a:spcAft>
              <a:buClr>
                <a:schemeClr val="accent1"/>
              </a:buClr>
              <a:buSzPct val="100000"/>
              <a:buFont typeface="Wingdings" panose="05000000000000000000" pitchFamily="2" charset="2"/>
              <a:buChar char="Ø"/>
              <a:defRPr sz="1800" b="0" i="0" u="none" strike="noStrike" kern="0" cap="none" spc="0" baseline="0">
                <a:solidFill>
                  <a:srgbClr val="000000"/>
                </a:solidFill>
                <a:uFillTx/>
              </a:defRPr>
            </a:pPr>
            <a:endParaRPr lang="en-US" sz="1800" kern="0"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610A129-137D-55A3-0941-9B406A9A4D92}"/>
              </a:ext>
            </a:extLst>
          </p:cNvPr>
          <p:cNvSpPr txBox="1"/>
          <p:nvPr/>
        </p:nvSpPr>
        <p:spPr>
          <a:xfrm rot="10800000" flipV="1">
            <a:off x="984813" y="733452"/>
            <a:ext cx="9707880" cy="707886"/>
          </a:xfrm>
          <a:prstGeom prst="rect">
            <a:avLst/>
          </a:prstGeom>
          <a:noFill/>
        </p:spPr>
        <p:txBody>
          <a:bodyPr wrap="square" rtlCol="0">
            <a:spAutoFit/>
          </a:bodyPr>
          <a:lstStyle/>
          <a:p>
            <a:r>
              <a:rPr lang="en-IN" sz="4000" dirty="0">
                <a:solidFill>
                  <a:schemeClr val="accent1">
                    <a:lumMod val="75000"/>
                  </a:schemeClr>
                </a:solidFill>
                <a:latin typeface="EB Garamond SemiBold" panose="00000700000000000000" pitchFamily="2" charset="0"/>
                <a:ea typeface="EB Garamond SemiBold" panose="00000700000000000000" pitchFamily="2" charset="0"/>
              </a:rPr>
              <a:t>OBJECTIVE</a:t>
            </a:r>
          </a:p>
        </p:txBody>
      </p:sp>
    </p:spTree>
    <p:extLst>
      <p:ext uri="{BB962C8B-B14F-4D97-AF65-F5344CB8AC3E}">
        <p14:creationId xmlns:p14="http://schemas.microsoft.com/office/powerpoint/2010/main" val="3252118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730F-85D3-E45D-8292-8D04559BD4CB}"/>
              </a:ext>
            </a:extLst>
          </p:cNvPr>
          <p:cNvSpPr>
            <a:spLocks noGrp="1"/>
          </p:cNvSpPr>
          <p:nvPr>
            <p:ph type="title"/>
          </p:nvPr>
        </p:nvSpPr>
        <p:spPr>
          <a:xfrm>
            <a:off x="672702" y="-552816"/>
            <a:ext cx="10515600" cy="1325563"/>
          </a:xfrm>
        </p:spPr>
        <p:txBody>
          <a:bodyPr/>
          <a:lstStyle/>
          <a:p>
            <a:br>
              <a:rPr lang="en-IN" dirty="0">
                <a:latin typeface="EB Garamond SemiBold" panose="00000700000000000000" pitchFamily="2" charset="0"/>
                <a:ea typeface="EB Garamond SemiBold" panose="00000700000000000000" pitchFamily="2" charset="0"/>
              </a:rPr>
            </a:br>
            <a:r>
              <a:rPr lang="en-IN" sz="3600" dirty="0">
                <a:latin typeface="EB Garamond SemiBold" panose="00000700000000000000" pitchFamily="2" charset="0"/>
                <a:ea typeface="EB Garamond SemiBold" panose="00000700000000000000" pitchFamily="2" charset="0"/>
              </a:rPr>
              <a:t>LITERATURE SURVEY</a:t>
            </a:r>
            <a:endParaRPr lang="en-IN" dirty="0">
              <a:latin typeface="EB Garamond SemiBold" panose="00000700000000000000" pitchFamily="2" charset="0"/>
              <a:ea typeface="EB Garamond SemiBold" panose="00000700000000000000" pitchFamily="2" charset="0"/>
            </a:endParaRPr>
          </a:p>
        </p:txBody>
      </p:sp>
      <p:graphicFrame>
        <p:nvGraphicFramePr>
          <p:cNvPr id="4" name="Content Placeholder 3">
            <a:extLst>
              <a:ext uri="{FF2B5EF4-FFF2-40B4-BE49-F238E27FC236}">
                <a16:creationId xmlns:a16="http://schemas.microsoft.com/office/drawing/2014/main" id="{E9B658F2-9299-020F-A6AA-3E72FF1D5C08}"/>
              </a:ext>
            </a:extLst>
          </p:cNvPr>
          <p:cNvGraphicFramePr>
            <a:graphicFrameLocks noGrp="1"/>
          </p:cNvGraphicFramePr>
          <p:nvPr>
            <p:ph idx="1"/>
            <p:extLst>
              <p:ext uri="{D42A27DB-BD31-4B8C-83A1-F6EECF244321}">
                <p14:modId xmlns:p14="http://schemas.microsoft.com/office/powerpoint/2010/main" val="4230734182"/>
              </p:ext>
            </p:extLst>
          </p:nvPr>
        </p:nvGraphicFramePr>
        <p:xfrm>
          <a:off x="106681" y="899160"/>
          <a:ext cx="12085319" cy="5771711"/>
        </p:xfrm>
        <a:graphic>
          <a:graphicData uri="http://schemas.openxmlformats.org/drawingml/2006/table">
            <a:tbl>
              <a:tblPr>
                <a:tableStyleId>{BC89EF96-8CEA-46FF-86C4-4CE0E7609802}</a:tableStyleId>
              </a:tblPr>
              <a:tblGrid>
                <a:gridCol w="2208719">
                  <a:extLst>
                    <a:ext uri="{9D8B030D-6E8A-4147-A177-3AD203B41FA5}">
                      <a16:colId xmlns:a16="http://schemas.microsoft.com/office/drawing/2014/main" val="820266227"/>
                    </a:ext>
                  </a:extLst>
                </a:gridCol>
                <a:gridCol w="4318830">
                  <a:extLst>
                    <a:ext uri="{9D8B030D-6E8A-4147-A177-3AD203B41FA5}">
                      <a16:colId xmlns:a16="http://schemas.microsoft.com/office/drawing/2014/main" val="3785131754"/>
                    </a:ext>
                  </a:extLst>
                </a:gridCol>
                <a:gridCol w="3349051">
                  <a:extLst>
                    <a:ext uri="{9D8B030D-6E8A-4147-A177-3AD203B41FA5}">
                      <a16:colId xmlns:a16="http://schemas.microsoft.com/office/drawing/2014/main" val="2635683800"/>
                    </a:ext>
                  </a:extLst>
                </a:gridCol>
                <a:gridCol w="2208719">
                  <a:extLst>
                    <a:ext uri="{9D8B030D-6E8A-4147-A177-3AD203B41FA5}">
                      <a16:colId xmlns:a16="http://schemas.microsoft.com/office/drawing/2014/main" val="4265395650"/>
                    </a:ext>
                  </a:extLst>
                </a:gridCol>
              </a:tblGrid>
              <a:tr h="396240">
                <a:tc>
                  <a:txBody>
                    <a:bodyPr/>
                    <a:lstStyle/>
                    <a:p>
                      <a:r>
                        <a:rPr lang="en-IN" sz="1400" b="1" dirty="0"/>
                        <a:t>Research Paper Title</a:t>
                      </a:r>
                      <a:endParaRPr lang="en-IN" sz="1400" dirty="0"/>
                    </a:p>
                  </a:txBody>
                  <a:tcPr marL="25152" marR="25152" marT="12576" marB="12576" anchor="ctr"/>
                </a:tc>
                <a:tc>
                  <a:txBody>
                    <a:bodyPr/>
                    <a:lstStyle/>
                    <a:p>
                      <a:r>
                        <a:rPr lang="en-IN" sz="1400" b="1" dirty="0"/>
                        <a:t>Author(s)</a:t>
                      </a:r>
                      <a:endParaRPr lang="en-IN" sz="1400" dirty="0"/>
                    </a:p>
                  </a:txBody>
                  <a:tcPr marL="25152" marR="25152" marT="12576" marB="12576" anchor="ctr"/>
                </a:tc>
                <a:tc>
                  <a:txBody>
                    <a:bodyPr/>
                    <a:lstStyle/>
                    <a:p>
                      <a:r>
                        <a:rPr lang="en-IN" sz="1400" b="1"/>
                        <a:t>Algorithms/Methods Used</a:t>
                      </a:r>
                      <a:endParaRPr lang="en-IN" sz="1400"/>
                    </a:p>
                  </a:txBody>
                  <a:tcPr marL="25152" marR="25152" marT="12576" marB="12576" anchor="ctr"/>
                </a:tc>
                <a:tc>
                  <a:txBody>
                    <a:bodyPr/>
                    <a:lstStyle/>
                    <a:p>
                      <a:r>
                        <a:rPr lang="en-IN" sz="1400" b="1" dirty="0"/>
                        <a:t>Issues Encountered</a:t>
                      </a:r>
                      <a:endParaRPr lang="en-IN" sz="1400" dirty="0"/>
                    </a:p>
                  </a:txBody>
                  <a:tcPr marL="25152" marR="25152" marT="12576" marB="12576" anchor="ctr"/>
                </a:tc>
                <a:extLst>
                  <a:ext uri="{0D108BD9-81ED-4DB2-BD59-A6C34878D82A}">
                    <a16:rowId xmlns:a16="http://schemas.microsoft.com/office/drawing/2014/main" val="3584476303"/>
                  </a:ext>
                </a:extLst>
              </a:tr>
              <a:tr h="1129432">
                <a:tc>
                  <a:txBody>
                    <a:bodyPr/>
                    <a:lstStyle/>
                    <a:p>
                      <a:r>
                        <a:rPr lang="en-US" sz="1400" b="1" dirty="0"/>
                        <a:t>1. Complex PTSD Symptom Clusters and Executive Function in UK Armed Forces Veterans: A Cross-Sectional Study</a:t>
                      </a:r>
                      <a:endParaRPr lang="en-US" sz="1400" dirty="0"/>
                    </a:p>
                  </a:txBody>
                  <a:tcPr marL="25152" marR="25152" marT="12576" marB="12576" anchor="ctr"/>
                </a:tc>
                <a:tc>
                  <a:txBody>
                    <a:bodyPr/>
                    <a:lstStyle/>
                    <a:p>
                      <a:r>
                        <a:rPr lang="en-IN" sz="1400" dirty="0"/>
                        <a:t>Natasha Biscoe, Emma New, Dominic Murphy</a:t>
                      </a:r>
                    </a:p>
                  </a:txBody>
                  <a:tcPr marL="25152" marR="25152" marT="12576" marB="12576" anchor="ctr"/>
                </a:tc>
                <a:tc>
                  <a:txBody>
                    <a:bodyPr/>
                    <a:lstStyle/>
                    <a:p>
                      <a:r>
                        <a:rPr lang="en-IN" sz="1400"/>
                        <a:t>- Regression Analysis </a:t>
                      </a:r>
                      <a:br>
                        <a:rPr lang="en-IN" sz="1400"/>
                      </a:br>
                      <a:r>
                        <a:rPr lang="en-IN" sz="1400"/>
                        <a:t>- Correlation Coefficients</a:t>
                      </a:r>
                    </a:p>
                  </a:txBody>
                  <a:tcPr marL="25152" marR="25152" marT="12576" marB="12576" anchor="ctr"/>
                </a:tc>
                <a:tc>
                  <a:txBody>
                    <a:bodyPr/>
                    <a:lstStyle/>
                    <a:p>
                      <a:r>
                        <a:rPr lang="en-US" sz="1400" dirty="0"/>
                        <a:t>- No specific issues mentioned in the study</a:t>
                      </a:r>
                    </a:p>
                  </a:txBody>
                  <a:tcPr marL="25152" marR="25152" marT="12576" marB="12576" anchor="ctr"/>
                </a:tc>
                <a:extLst>
                  <a:ext uri="{0D108BD9-81ED-4DB2-BD59-A6C34878D82A}">
                    <a16:rowId xmlns:a16="http://schemas.microsoft.com/office/drawing/2014/main" val="458551087"/>
                  </a:ext>
                </a:extLst>
              </a:tr>
              <a:tr h="1108582">
                <a:tc>
                  <a:txBody>
                    <a:bodyPr/>
                    <a:lstStyle/>
                    <a:p>
                      <a:r>
                        <a:rPr lang="en-US" sz="1400" b="1" dirty="0"/>
                        <a:t>2. A Quantitative Meta-Analysis of Neurocognitive Functioning in Posttraumatic Stress Disorder</a:t>
                      </a:r>
                      <a:endParaRPr lang="en-US" sz="1400" dirty="0"/>
                    </a:p>
                  </a:txBody>
                  <a:tcPr marL="25152" marR="25152" marT="12576" marB="12576" anchor="ctr"/>
                </a:tc>
                <a:tc>
                  <a:txBody>
                    <a:bodyPr/>
                    <a:lstStyle/>
                    <a:p>
                      <a:r>
                        <a:rPr lang="en-IN" sz="1400" b="0" kern="1200" dirty="0">
                          <a:solidFill>
                            <a:schemeClr val="dk1"/>
                          </a:solidFill>
                          <a:effectLst/>
                        </a:rPr>
                        <a:t>Scott JC, Matt GE, </a:t>
                      </a:r>
                      <a:r>
                        <a:rPr lang="en-IN" sz="1400" b="0" kern="1200" dirty="0" err="1">
                          <a:solidFill>
                            <a:schemeClr val="dk1"/>
                          </a:solidFill>
                          <a:effectLst/>
                        </a:rPr>
                        <a:t>Wrocklage</a:t>
                      </a:r>
                      <a:r>
                        <a:rPr lang="en-IN" sz="1400" b="0" kern="1200" dirty="0">
                          <a:solidFill>
                            <a:schemeClr val="dk1"/>
                          </a:solidFill>
                          <a:effectLst/>
                        </a:rPr>
                        <a:t> KM, </a:t>
                      </a:r>
                      <a:r>
                        <a:rPr lang="en-IN" sz="1400" b="0" kern="1200" dirty="0" err="1">
                          <a:solidFill>
                            <a:schemeClr val="dk1"/>
                          </a:solidFill>
                          <a:effectLst/>
                        </a:rPr>
                        <a:t>Crnich</a:t>
                      </a:r>
                      <a:r>
                        <a:rPr lang="en-IN" sz="1400" b="0" kern="1200" dirty="0">
                          <a:solidFill>
                            <a:schemeClr val="dk1"/>
                          </a:solidFill>
                          <a:effectLst/>
                        </a:rPr>
                        <a:t> C, Jordan J, Southwick SM, et al</a:t>
                      </a:r>
                      <a:endParaRPr lang="en-IN" sz="1400" dirty="0"/>
                    </a:p>
                  </a:txBody>
                  <a:tcPr marL="25152" marR="25152" marT="12576" marB="12576" anchor="ctr"/>
                </a:tc>
                <a:tc>
                  <a:txBody>
                    <a:bodyPr/>
                    <a:lstStyle/>
                    <a:p>
                      <a:r>
                        <a:rPr lang="en-US" sz="1400"/>
                        <a:t>- Standardized Mean Differences (SMD) </a:t>
                      </a:r>
                      <a:br>
                        <a:rPr lang="en-US" sz="1400"/>
                      </a:br>
                      <a:r>
                        <a:rPr lang="en-US" sz="1400"/>
                        <a:t>- Random Effects Model</a:t>
                      </a:r>
                    </a:p>
                  </a:txBody>
                  <a:tcPr marL="25152" marR="25152" marT="12576" marB="12576" anchor="ctr"/>
                </a:tc>
                <a:tc>
                  <a:txBody>
                    <a:bodyPr/>
                    <a:lstStyle/>
                    <a:p>
                      <a:r>
                        <a:rPr lang="en-US" sz="1400"/>
                        <a:t>- Variability among studies </a:t>
                      </a:r>
                      <a:br>
                        <a:rPr lang="en-US" sz="1400"/>
                      </a:br>
                      <a:r>
                        <a:rPr lang="en-US" sz="1400"/>
                        <a:t>- Limited understanding of underlying mechanisms</a:t>
                      </a:r>
                    </a:p>
                  </a:txBody>
                  <a:tcPr marL="25152" marR="25152" marT="12576" marB="12576" anchor="ctr"/>
                </a:tc>
                <a:extLst>
                  <a:ext uri="{0D108BD9-81ED-4DB2-BD59-A6C34878D82A}">
                    <a16:rowId xmlns:a16="http://schemas.microsoft.com/office/drawing/2014/main" val="3346842815"/>
                  </a:ext>
                </a:extLst>
              </a:tr>
              <a:tr h="908749">
                <a:tc>
                  <a:txBody>
                    <a:bodyPr/>
                    <a:lstStyle/>
                    <a:p>
                      <a:r>
                        <a:rPr lang="en-US" sz="1400" b="1" dirty="0"/>
                        <a:t>3. Understanding the Needs of Veterans Seeking Support for Mental Health Difficulties</a:t>
                      </a:r>
                      <a:endParaRPr lang="en-US" sz="1400" dirty="0"/>
                    </a:p>
                  </a:txBody>
                  <a:tcPr marL="25152" marR="25152" marT="12576" marB="12576" anchor="ctr"/>
                </a:tc>
                <a:tc>
                  <a:txBody>
                    <a:bodyPr/>
                    <a:lstStyle/>
                    <a:p>
                      <a:r>
                        <a:rPr lang="en-IN" sz="1400" b="0" kern="1200" dirty="0">
                          <a:solidFill>
                            <a:schemeClr val="dk1"/>
                          </a:solidFill>
                          <a:effectLst/>
                        </a:rPr>
                        <a:t>Murphy D, Busuttil W.</a:t>
                      </a:r>
                      <a:endParaRPr lang="en-IN" sz="1400" dirty="0"/>
                    </a:p>
                  </a:txBody>
                  <a:tcPr marL="25152" marR="25152" marT="12576" marB="12576" anchor="ctr"/>
                </a:tc>
                <a:tc>
                  <a:txBody>
                    <a:bodyPr/>
                    <a:lstStyle/>
                    <a:p>
                      <a:r>
                        <a:rPr lang="en-IN" sz="1400" dirty="0"/>
                        <a:t>- Qualitative Analysis </a:t>
                      </a:r>
                      <a:br>
                        <a:rPr lang="en-IN" sz="1400" dirty="0"/>
                      </a:br>
                      <a:r>
                        <a:rPr lang="en-IN" sz="1400" dirty="0"/>
                        <a:t>- Thematic Analysis</a:t>
                      </a:r>
                    </a:p>
                  </a:txBody>
                  <a:tcPr marL="25152" marR="25152" marT="12576" marB="12576" anchor="ctr"/>
                </a:tc>
                <a:tc>
                  <a:txBody>
                    <a:bodyPr/>
                    <a:lstStyle/>
                    <a:p>
                      <a:r>
                        <a:rPr lang="en-US" sz="1400"/>
                        <a:t>- Barriers to accessing care </a:t>
                      </a:r>
                      <a:br>
                        <a:rPr lang="en-US" sz="1400"/>
                      </a:br>
                      <a:r>
                        <a:rPr lang="en-US" sz="1400"/>
                        <a:t>- Stigma and lack of awareness</a:t>
                      </a:r>
                    </a:p>
                  </a:txBody>
                  <a:tcPr marL="25152" marR="25152" marT="12576" marB="12576" anchor="ctr"/>
                </a:tc>
                <a:extLst>
                  <a:ext uri="{0D108BD9-81ED-4DB2-BD59-A6C34878D82A}">
                    <a16:rowId xmlns:a16="http://schemas.microsoft.com/office/drawing/2014/main" val="422870030"/>
                  </a:ext>
                </a:extLst>
              </a:tr>
              <a:tr h="1350116">
                <a:tc>
                  <a:txBody>
                    <a:bodyPr/>
                    <a:lstStyle/>
                    <a:p>
                      <a:r>
                        <a:rPr lang="en-US" sz="1400" b="1" dirty="0"/>
                        <a:t>4. ICD-11 Posttraumatic Stress Disorder (PTSD) and Complex PTSD (CPTSD) in Treatment-Seeking Veterans: Risk Factors and Comorbidity</a:t>
                      </a:r>
                      <a:endParaRPr lang="en-US" sz="1400" dirty="0"/>
                    </a:p>
                  </a:txBody>
                  <a:tcPr marL="25152" marR="25152" marT="12576" marB="12576" anchor="ctr"/>
                </a:tc>
                <a:tc>
                  <a:txBody>
                    <a:bodyPr/>
                    <a:lstStyle/>
                    <a:p>
                      <a:r>
                        <a:rPr lang="en-IN" sz="1400" b="0" kern="1200" dirty="0">
                          <a:solidFill>
                            <a:schemeClr val="dk1"/>
                          </a:solidFill>
                          <a:effectLst/>
                        </a:rPr>
                        <a:t>Murphy D, </a:t>
                      </a:r>
                      <a:r>
                        <a:rPr lang="en-IN" sz="1400" b="0" kern="1200" dirty="0" err="1">
                          <a:solidFill>
                            <a:schemeClr val="dk1"/>
                          </a:solidFill>
                          <a:effectLst/>
                        </a:rPr>
                        <a:t>Karatzias</a:t>
                      </a:r>
                      <a:r>
                        <a:rPr lang="en-IN" sz="1400" b="0" kern="1200" dirty="0">
                          <a:solidFill>
                            <a:schemeClr val="dk1"/>
                          </a:solidFill>
                          <a:effectLst/>
                        </a:rPr>
                        <a:t> T, Busuttil W, Greenberg N, Shevlin M</a:t>
                      </a:r>
                      <a:endParaRPr lang="en-IN" sz="1400" dirty="0"/>
                    </a:p>
                  </a:txBody>
                  <a:tcPr marL="25152" marR="25152" marT="12576" marB="12576" anchor="ctr"/>
                </a:tc>
                <a:tc>
                  <a:txBody>
                    <a:bodyPr/>
                    <a:lstStyle/>
                    <a:p>
                      <a:r>
                        <a:rPr lang="en-IN" sz="1400" dirty="0"/>
                        <a:t>- Descriptive Statistics </a:t>
                      </a:r>
                      <a:br>
                        <a:rPr lang="en-IN" sz="1400" dirty="0"/>
                      </a:br>
                      <a:r>
                        <a:rPr lang="en-IN" sz="1400" dirty="0"/>
                        <a:t>- Logistic Regression</a:t>
                      </a:r>
                    </a:p>
                  </a:txBody>
                  <a:tcPr marL="25152" marR="25152" marT="12576" marB="12576" anchor="ctr"/>
                </a:tc>
                <a:tc>
                  <a:txBody>
                    <a:bodyPr/>
                    <a:lstStyle/>
                    <a:p>
                      <a:r>
                        <a:rPr lang="en-US" sz="1400"/>
                        <a:t>- High trauma exposure </a:t>
                      </a:r>
                      <a:br>
                        <a:rPr lang="en-US" sz="1400"/>
                      </a:br>
                      <a:r>
                        <a:rPr lang="en-US" sz="1400"/>
                        <a:t>- Comorbid conditions complicating treatment</a:t>
                      </a:r>
                    </a:p>
                  </a:txBody>
                  <a:tcPr marL="25152" marR="25152" marT="12576" marB="12576" anchor="ctr"/>
                </a:tc>
                <a:extLst>
                  <a:ext uri="{0D108BD9-81ED-4DB2-BD59-A6C34878D82A}">
                    <a16:rowId xmlns:a16="http://schemas.microsoft.com/office/drawing/2014/main" val="2152062354"/>
                  </a:ext>
                </a:extLst>
              </a:tr>
              <a:tr h="837121">
                <a:tc>
                  <a:txBody>
                    <a:bodyPr/>
                    <a:lstStyle/>
                    <a:p>
                      <a:r>
                        <a:rPr lang="en-US" sz="1400" b="1" dirty="0"/>
                        <a:t>5. Co-occurring Chronic Pain and PTSD Among US Military Veterans: Prevalence, Correlates, and Functioning</a:t>
                      </a:r>
                      <a:endParaRPr lang="en-US" sz="1400" dirty="0"/>
                    </a:p>
                  </a:txBody>
                  <a:tcPr marL="25152" marR="25152" marT="12576" marB="12576" anchor="ctr"/>
                </a:tc>
                <a:tc>
                  <a:txBody>
                    <a:bodyPr/>
                    <a:lstStyle/>
                    <a:p>
                      <a:r>
                        <a:rPr lang="en-IN" sz="1400" b="0" kern="1200" dirty="0">
                          <a:solidFill>
                            <a:schemeClr val="dk1"/>
                          </a:solidFill>
                          <a:effectLst/>
                        </a:rPr>
                        <a:t>Reed DE 2nd, Fischer IC, Williams RM, Na PJ, Pietrzak RH</a:t>
                      </a:r>
                      <a:endParaRPr lang="da-DK" sz="1400" dirty="0"/>
                    </a:p>
                  </a:txBody>
                  <a:tcPr marL="25152" marR="25152" marT="12576" marB="12576" anchor="ctr"/>
                </a:tc>
                <a:tc>
                  <a:txBody>
                    <a:bodyPr/>
                    <a:lstStyle/>
                    <a:p>
                      <a:r>
                        <a:rPr lang="en-IN" sz="1400" dirty="0"/>
                        <a:t>- Descriptive Statistics </a:t>
                      </a:r>
                      <a:br>
                        <a:rPr lang="en-IN" sz="1400" dirty="0"/>
                      </a:br>
                      <a:r>
                        <a:rPr lang="en-IN" sz="1400" dirty="0"/>
                        <a:t>- Logistic Regression</a:t>
                      </a:r>
                    </a:p>
                  </a:txBody>
                  <a:tcPr marL="25152" marR="25152" marT="12576" marB="12576" anchor="ctr"/>
                </a:tc>
                <a:tc>
                  <a:txBody>
                    <a:bodyPr/>
                    <a:lstStyle/>
                    <a:p>
                      <a:r>
                        <a:rPr lang="en-US" sz="1400" dirty="0"/>
                        <a:t>- Greater functional impairment due to co-occurrence</a:t>
                      </a:r>
                    </a:p>
                  </a:txBody>
                  <a:tcPr marL="25152" marR="25152" marT="12576" marB="12576" anchor="ctr"/>
                </a:tc>
                <a:extLst>
                  <a:ext uri="{0D108BD9-81ED-4DB2-BD59-A6C34878D82A}">
                    <a16:rowId xmlns:a16="http://schemas.microsoft.com/office/drawing/2014/main" val="745182687"/>
                  </a:ext>
                </a:extLst>
              </a:tr>
            </a:tbl>
          </a:graphicData>
        </a:graphic>
      </p:graphicFrame>
    </p:spTree>
    <p:extLst>
      <p:ext uri="{BB962C8B-B14F-4D97-AF65-F5344CB8AC3E}">
        <p14:creationId xmlns:p14="http://schemas.microsoft.com/office/powerpoint/2010/main" val="3665039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F7451A1D-252D-4409-ECFF-5FC719CE9514}"/>
              </a:ext>
            </a:extLst>
          </p:cNvPr>
          <p:cNvGraphicFramePr>
            <a:graphicFrameLocks noGrp="1"/>
          </p:cNvGraphicFramePr>
          <p:nvPr>
            <p:ph idx="1"/>
            <p:extLst>
              <p:ext uri="{D42A27DB-BD31-4B8C-83A1-F6EECF244321}">
                <p14:modId xmlns:p14="http://schemas.microsoft.com/office/powerpoint/2010/main" val="564766076"/>
              </p:ext>
            </p:extLst>
          </p:nvPr>
        </p:nvGraphicFramePr>
        <p:xfrm>
          <a:off x="0" y="146745"/>
          <a:ext cx="12192000" cy="6564509"/>
        </p:xfrm>
        <a:graphic>
          <a:graphicData uri="http://schemas.openxmlformats.org/drawingml/2006/table">
            <a:tbl>
              <a:tblPr>
                <a:tableStyleId>{BC89EF96-8CEA-46FF-86C4-4CE0E7609802}</a:tableStyleId>
              </a:tblPr>
              <a:tblGrid>
                <a:gridCol w="3048000">
                  <a:extLst>
                    <a:ext uri="{9D8B030D-6E8A-4147-A177-3AD203B41FA5}">
                      <a16:colId xmlns:a16="http://schemas.microsoft.com/office/drawing/2014/main" val="1458852568"/>
                    </a:ext>
                  </a:extLst>
                </a:gridCol>
                <a:gridCol w="3048000">
                  <a:extLst>
                    <a:ext uri="{9D8B030D-6E8A-4147-A177-3AD203B41FA5}">
                      <a16:colId xmlns:a16="http://schemas.microsoft.com/office/drawing/2014/main" val="3237107381"/>
                    </a:ext>
                  </a:extLst>
                </a:gridCol>
                <a:gridCol w="3048000">
                  <a:extLst>
                    <a:ext uri="{9D8B030D-6E8A-4147-A177-3AD203B41FA5}">
                      <a16:colId xmlns:a16="http://schemas.microsoft.com/office/drawing/2014/main" val="388462864"/>
                    </a:ext>
                  </a:extLst>
                </a:gridCol>
                <a:gridCol w="3048000">
                  <a:extLst>
                    <a:ext uri="{9D8B030D-6E8A-4147-A177-3AD203B41FA5}">
                      <a16:colId xmlns:a16="http://schemas.microsoft.com/office/drawing/2014/main" val="3683962697"/>
                    </a:ext>
                  </a:extLst>
                </a:gridCol>
              </a:tblGrid>
              <a:tr h="366891">
                <a:tc>
                  <a:txBody>
                    <a:bodyPr/>
                    <a:lstStyle/>
                    <a:p>
                      <a:r>
                        <a:rPr lang="en-IN" sz="1400" b="1" dirty="0"/>
                        <a:t>Research Paper Title</a:t>
                      </a:r>
                      <a:endParaRPr lang="en-IN" sz="1400" dirty="0"/>
                    </a:p>
                  </a:txBody>
                  <a:tcPr marL="50015" marR="50015" marT="25008" marB="25008" anchor="ctr"/>
                </a:tc>
                <a:tc>
                  <a:txBody>
                    <a:bodyPr/>
                    <a:lstStyle/>
                    <a:p>
                      <a:r>
                        <a:rPr lang="en-IN" sz="1400" b="1"/>
                        <a:t>Author(s)</a:t>
                      </a:r>
                      <a:endParaRPr lang="en-IN" sz="1400"/>
                    </a:p>
                  </a:txBody>
                  <a:tcPr marL="50015" marR="50015" marT="25008" marB="25008" anchor="ctr"/>
                </a:tc>
                <a:tc>
                  <a:txBody>
                    <a:bodyPr/>
                    <a:lstStyle/>
                    <a:p>
                      <a:r>
                        <a:rPr lang="en-IN" sz="1400" b="1" dirty="0"/>
                        <a:t>Algorithms Used</a:t>
                      </a:r>
                      <a:endParaRPr lang="en-IN" sz="1400" dirty="0"/>
                    </a:p>
                  </a:txBody>
                  <a:tcPr marL="50015" marR="50015" marT="25008" marB="25008" anchor="ctr"/>
                </a:tc>
                <a:tc>
                  <a:txBody>
                    <a:bodyPr/>
                    <a:lstStyle/>
                    <a:p>
                      <a:r>
                        <a:rPr lang="en-IN" sz="1400" b="1"/>
                        <a:t>Issues Encountered</a:t>
                      </a:r>
                      <a:endParaRPr lang="en-IN" sz="1400"/>
                    </a:p>
                  </a:txBody>
                  <a:tcPr marL="50015" marR="50015" marT="25008" marB="25008" anchor="ctr"/>
                </a:tc>
                <a:extLst>
                  <a:ext uri="{0D108BD9-81ED-4DB2-BD59-A6C34878D82A}">
                    <a16:rowId xmlns:a16="http://schemas.microsoft.com/office/drawing/2014/main" val="1450617"/>
                  </a:ext>
                </a:extLst>
              </a:tr>
              <a:tr h="1258543">
                <a:tc>
                  <a:txBody>
                    <a:bodyPr/>
                    <a:lstStyle/>
                    <a:p>
                      <a:r>
                        <a:rPr lang="en-US" sz="1400" b="1" dirty="0"/>
                        <a:t>6. Cognitive Processing Therapy: A Meta-Analytic Review Among Veterans and Military Personnel with PTSD</a:t>
                      </a:r>
                      <a:endParaRPr lang="en-US" sz="1400" dirty="0"/>
                    </a:p>
                  </a:txBody>
                  <a:tcPr marL="50015" marR="50015" marT="25008" marB="25008" anchor="ctr"/>
                </a:tc>
                <a:tc>
                  <a:txBody>
                    <a:bodyPr/>
                    <a:lstStyle/>
                    <a:p>
                      <a:r>
                        <a:rPr lang="en-IN" sz="1400" b="0" kern="1200" dirty="0">
                          <a:solidFill>
                            <a:schemeClr val="dk1"/>
                          </a:solidFill>
                          <a:effectLst/>
                        </a:rPr>
                        <a:t>Raines, A.M., Clauss, K., Schafer, K.M. et al</a:t>
                      </a:r>
                      <a:endParaRPr lang="fr-FR" sz="1400" dirty="0"/>
                    </a:p>
                  </a:txBody>
                  <a:tcPr marL="50015" marR="50015" marT="25008" marB="25008" anchor="ctr"/>
                </a:tc>
                <a:tc>
                  <a:txBody>
                    <a:bodyPr/>
                    <a:lstStyle/>
                    <a:p>
                      <a:r>
                        <a:rPr lang="en-US" sz="1400" dirty="0"/>
                        <a:t>Meta-analytic techniques (standardized mean differences, random effects model)</a:t>
                      </a:r>
                    </a:p>
                  </a:txBody>
                  <a:tcPr marL="50015" marR="50015" marT="25008" marB="25008" anchor="ctr"/>
                </a:tc>
                <a:tc>
                  <a:txBody>
                    <a:bodyPr/>
                    <a:lstStyle/>
                    <a:p>
                      <a:r>
                        <a:rPr lang="en-US" sz="1400" dirty="0"/>
                        <a:t>Variability across studies, differences in delivery format (individual vs. group therapy), comorbid conditions</a:t>
                      </a:r>
                    </a:p>
                  </a:txBody>
                  <a:tcPr marL="50015" marR="50015" marT="25008" marB="25008" anchor="ctr"/>
                </a:tc>
                <a:extLst>
                  <a:ext uri="{0D108BD9-81ED-4DB2-BD59-A6C34878D82A}">
                    <a16:rowId xmlns:a16="http://schemas.microsoft.com/office/drawing/2014/main" val="3538572572"/>
                  </a:ext>
                </a:extLst>
              </a:tr>
              <a:tr h="1323787">
                <a:tc>
                  <a:txBody>
                    <a:bodyPr/>
                    <a:lstStyle/>
                    <a:p>
                      <a:r>
                        <a:rPr lang="en-US" sz="1400" b="1" dirty="0"/>
                        <a:t>7. The International Trauma Questionnaire: Development of a Self-Report Measure of ICD-11 PTSD and Complex PTSD</a:t>
                      </a:r>
                      <a:endParaRPr lang="en-US" sz="1400" dirty="0"/>
                    </a:p>
                  </a:txBody>
                  <a:tcPr marL="50015" marR="50015" marT="25008" marB="25008" anchor="ctr"/>
                </a:tc>
                <a:tc>
                  <a:txBody>
                    <a:bodyPr/>
                    <a:lstStyle/>
                    <a:p>
                      <a:r>
                        <a:rPr lang="en-IN" sz="1400" b="0" kern="1200" dirty="0">
                          <a:solidFill>
                            <a:schemeClr val="dk1"/>
                          </a:solidFill>
                          <a:effectLst/>
                        </a:rPr>
                        <a:t> </a:t>
                      </a:r>
                      <a:r>
                        <a:rPr lang="en-IN" sz="1400" b="0" kern="1200" dirty="0" err="1">
                          <a:solidFill>
                            <a:schemeClr val="dk1"/>
                          </a:solidFill>
                          <a:effectLst/>
                        </a:rPr>
                        <a:t>Cloitre</a:t>
                      </a:r>
                      <a:r>
                        <a:rPr lang="en-IN" sz="1400" b="0" kern="1200" dirty="0">
                          <a:solidFill>
                            <a:schemeClr val="dk1"/>
                          </a:solidFill>
                          <a:effectLst/>
                        </a:rPr>
                        <a:t> et al., 2018 M. </a:t>
                      </a:r>
                      <a:r>
                        <a:rPr lang="en-IN" sz="1400" b="0" kern="1200" dirty="0" err="1">
                          <a:solidFill>
                            <a:schemeClr val="dk1"/>
                          </a:solidFill>
                          <a:effectLst/>
                        </a:rPr>
                        <a:t>Cloitre</a:t>
                      </a:r>
                      <a:r>
                        <a:rPr lang="en-IN" sz="1400" b="0" kern="1200" dirty="0">
                          <a:solidFill>
                            <a:schemeClr val="dk1"/>
                          </a:solidFill>
                          <a:effectLst/>
                        </a:rPr>
                        <a:t>, M. Shevlin, C.R. Brewin, J.I. Bisson, N.P. Roberts, A. </a:t>
                      </a:r>
                      <a:r>
                        <a:rPr lang="en-IN" sz="1400" b="0" kern="1200" dirty="0" err="1">
                          <a:solidFill>
                            <a:schemeClr val="dk1"/>
                          </a:solidFill>
                          <a:effectLst/>
                        </a:rPr>
                        <a:t>Maercker</a:t>
                      </a:r>
                      <a:r>
                        <a:rPr lang="en-IN" sz="1400" b="0" kern="1200" dirty="0">
                          <a:solidFill>
                            <a:schemeClr val="dk1"/>
                          </a:solidFill>
                          <a:effectLst/>
                        </a:rPr>
                        <a:t>, T. </a:t>
                      </a:r>
                      <a:r>
                        <a:rPr lang="en-IN" sz="1400" b="0" kern="1200" dirty="0" err="1">
                          <a:solidFill>
                            <a:schemeClr val="dk1"/>
                          </a:solidFill>
                          <a:effectLst/>
                        </a:rPr>
                        <a:t>Karatzias</a:t>
                      </a:r>
                      <a:r>
                        <a:rPr lang="en-IN" sz="1400" b="0" kern="1200" dirty="0">
                          <a:solidFill>
                            <a:schemeClr val="dk1"/>
                          </a:solidFill>
                          <a:effectLst/>
                        </a:rPr>
                        <a:t>, P. Hyland</a:t>
                      </a:r>
                      <a:endParaRPr lang="en-IN" sz="1400" dirty="0"/>
                    </a:p>
                  </a:txBody>
                  <a:tcPr marL="50015" marR="50015" marT="25008" marB="25008" anchor="ctr"/>
                </a:tc>
                <a:tc>
                  <a:txBody>
                    <a:bodyPr/>
                    <a:lstStyle/>
                    <a:p>
                      <a:r>
                        <a:rPr lang="en-US" sz="1400" dirty="0"/>
                        <a:t>Factor analysis, reliability testing (Cronbach's alpha)</a:t>
                      </a:r>
                    </a:p>
                  </a:txBody>
                  <a:tcPr marL="50015" marR="50015" marT="25008" marB="25008" anchor="ctr"/>
                </a:tc>
                <a:tc>
                  <a:txBody>
                    <a:bodyPr/>
                    <a:lstStyle/>
                    <a:p>
                      <a:r>
                        <a:rPr lang="en-IN" sz="1400"/>
                        <a:t>None reported</a:t>
                      </a:r>
                    </a:p>
                  </a:txBody>
                  <a:tcPr marL="50015" marR="50015" marT="25008" marB="25008" anchor="ctr"/>
                </a:tc>
                <a:extLst>
                  <a:ext uri="{0D108BD9-81ED-4DB2-BD59-A6C34878D82A}">
                    <a16:rowId xmlns:a16="http://schemas.microsoft.com/office/drawing/2014/main" val="1465770346"/>
                  </a:ext>
                </a:extLst>
              </a:tr>
              <a:tr h="1323787">
                <a:tc>
                  <a:txBody>
                    <a:bodyPr/>
                    <a:lstStyle/>
                    <a:p>
                      <a:r>
                        <a:rPr lang="en-US" sz="1400" b="1" dirty="0"/>
                        <a:t>8. Psychometric </a:t>
                      </a:r>
                    </a:p>
                    <a:p>
                      <a:r>
                        <a:rPr lang="en-US" sz="1400" b="1" dirty="0"/>
                        <a:t>properties of the PTSD checklist for dsm-5: A pilot study</a:t>
                      </a:r>
                      <a:endParaRPr lang="en-US" sz="1400" dirty="0"/>
                    </a:p>
                  </a:txBody>
                  <a:tcPr marL="50015" marR="50015" marT="25008" marB="25008" anchor="ctr"/>
                </a:tc>
                <a:tc>
                  <a:txBody>
                    <a:bodyPr/>
                    <a:lstStyle/>
                    <a:p>
                      <a:r>
                        <a:rPr lang="en-US" sz="1400" b="0" kern="1200" dirty="0">
                          <a:solidFill>
                            <a:schemeClr val="dk1"/>
                          </a:solidFill>
                          <a:effectLst/>
                        </a:rPr>
                        <a:t>J. </a:t>
                      </a:r>
                      <a:r>
                        <a:rPr lang="en-US" sz="1400" b="0" kern="1200" dirty="0" err="1">
                          <a:solidFill>
                            <a:schemeClr val="dk1"/>
                          </a:solidFill>
                          <a:effectLst/>
                        </a:rPr>
                        <a:t>Sveen</a:t>
                      </a:r>
                      <a:r>
                        <a:rPr lang="en-US" sz="1400" b="0" kern="1200" dirty="0">
                          <a:solidFill>
                            <a:schemeClr val="dk1"/>
                          </a:solidFill>
                          <a:effectLst/>
                        </a:rPr>
                        <a:t>, K. </a:t>
                      </a:r>
                      <a:r>
                        <a:rPr lang="en-US" sz="1400" b="0" kern="1200" dirty="0" err="1">
                          <a:solidFill>
                            <a:schemeClr val="dk1"/>
                          </a:solidFill>
                          <a:effectLst/>
                        </a:rPr>
                        <a:t>Bondjers</a:t>
                      </a:r>
                      <a:r>
                        <a:rPr lang="en-US" sz="1400" b="0" kern="1200" dirty="0">
                          <a:solidFill>
                            <a:schemeClr val="dk1"/>
                          </a:solidFill>
                          <a:effectLst/>
                        </a:rPr>
                        <a:t>, and M. Willebrand</a:t>
                      </a:r>
                      <a:endParaRPr lang="da-DK" sz="1400" dirty="0"/>
                    </a:p>
                  </a:txBody>
                  <a:tcPr marL="50015" marR="50015" marT="25008" marB="25008" anchor="ctr"/>
                </a:tc>
                <a:tc>
                  <a:txBody>
                    <a:bodyPr/>
                    <a:lstStyle/>
                    <a:p>
                      <a:r>
                        <a:rPr lang="en-IN" sz="1400" dirty="0"/>
                        <a:t>Psychometric algorithms for reliability and validity analysis</a:t>
                      </a:r>
                    </a:p>
                  </a:txBody>
                  <a:tcPr marL="50015" marR="50015" marT="25008" marB="25008" anchor="ctr"/>
                </a:tc>
                <a:tc>
                  <a:txBody>
                    <a:bodyPr/>
                    <a:lstStyle/>
                    <a:p>
                      <a:r>
                        <a:rPr lang="en-US" sz="1400" dirty="0"/>
                        <a:t>Need for further validation in diverse clinical populations</a:t>
                      </a:r>
                    </a:p>
                  </a:txBody>
                  <a:tcPr marL="50015" marR="50015" marT="25008" marB="25008" anchor="ctr"/>
                </a:tc>
                <a:extLst>
                  <a:ext uri="{0D108BD9-81ED-4DB2-BD59-A6C34878D82A}">
                    <a16:rowId xmlns:a16="http://schemas.microsoft.com/office/drawing/2014/main" val="2474292666"/>
                  </a:ext>
                </a:extLst>
              </a:tr>
              <a:tr h="1258543">
                <a:tc>
                  <a:txBody>
                    <a:bodyPr/>
                    <a:lstStyle/>
                    <a:p>
                      <a:r>
                        <a:rPr lang="en-US" sz="1400" b="1" dirty="0"/>
                        <a:t>9. Violence associated </a:t>
                      </a:r>
                    </a:p>
                    <a:p>
                      <a:r>
                        <a:rPr lang="en-US" sz="1400" b="1" dirty="0"/>
                        <a:t>with combat-related posttraumatic stress disorder: The </a:t>
                      </a:r>
                    </a:p>
                    <a:p>
                      <a:r>
                        <a:rPr lang="en-US" sz="1400" b="1" dirty="0"/>
                        <a:t>importance of anger. Psychological trauma: theory, research, </a:t>
                      </a:r>
                    </a:p>
                    <a:p>
                      <a:r>
                        <a:rPr lang="en-US" sz="1400" b="1" dirty="0"/>
                        <a:t>practice, and policy</a:t>
                      </a:r>
                      <a:endParaRPr lang="en-US" sz="1400" dirty="0"/>
                    </a:p>
                  </a:txBody>
                  <a:tcPr marL="50015" marR="50015" marT="25008" marB="25008" anchor="ctr"/>
                </a:tc>
                <a:tc>
                  <a:txBody>
                    <a:bodyPr/>
                    <a:lstStyle/>
                    <a:p>
                      <a:r>
                        <a:rPr lang="it-IT" sz="1400" b="0" kern="1200" dirty="0">
                          <a:solidFill>
                            <a:schemeClr val="dk1"/>
                          </a:solidFill>
                          <a:effectLst/>
                        </a:rPr>
                        <a:t>Novaco, R. W., &amp; Chemtob, C. M. </a:t>
                      </a:r>
                      <a:endParaRPr lang="en-IN" sz="1400" dirty="0"/>
                    </a:p>
                  </a:txBody>
                  <a:tcPr marL="50015" marR="50015" marT="25008" marB="25008" anchor="ctr"/>
                </a:tc>
                <a:tc>
                  <a:txBody>
                    <a:bodyPr/>
                    <a:lstStyle/>
                    <a:p>
                      <a:r>
                        <a:rPr lang="en-IN" sz="1400" dirty="0"/>
                        <a:t>Statistical methods</a:t>
                      </a:r>
                    </a:p>
                  </a:txBody>
                  <a:tcPr marL="50015" marR="50015" marT="25008" marB="25008" anchor="ctr"/>
                </a:tc>
                <a:tc>
                  <a:txBody>
                    <a:bodyPr/>
                    <a:lstStyle/>
                    <a:p>
                      <a:r>
                        <a:rPr lang="en-US" sz="1400" dirty="0"/>
                        <a:t>Challenge in isolating direct link between PTSD and violence; anger as a mediating factor</a:t>
                      </a:r>
                    </a:p>
                  </a:txBody>
                  <a:tcPr marL="50015" marR="50015" marT="25008" marB="25008" anchor="ctr"/>
                </a:tc>
                <a:extLst>
                  <a:ext uri="{0D108BD9-81ED-4DB2-BD59-A6C34878D82A}">
                    <a16:rowId xmlns:a16="http://schemas.microsoft.com/office/drawing/2014/main" val="3236756868"/>
                  </a:ext>
                </a:extLst>
              </a:tr>
              <a:tr h="961325">
                <a:tc>
                  <a:txBody>
                    <a:bodyPr/>
                    <a:lstStyle/>
                    <a:p>
                      <a:r>
                        <a:rPr lang="en-US" sz="1400" b="1" dirty="0"/>
                        <a:t>10. Suicide risk among 1.3 million veterans who were on active duty during the Iraq and Afghanistan wars</a:t>
                      </a:r>
                      <a:endParaRPr lang="en-US" sz="1400" dirty="0"/>
                    </a:p>
                  </a:txBody>
                  <a:tcPr marL="50015" marR="50015" marT="25008" marB="25008" anchor="ctr"/>
                </a:tc>
                <a:tc>
                  <a:txBody>
                    <a:bodyPr/>
                    <a:lstStyle/>
                    <a:p>
                      <a:r>
                        <a:rPr lang="en-US" sz="1400" dirty="0"/>
                        <a:t> </a:t>
                      </a:r>
                      <a:r>
                        <a:rPr lang="en-IN" sz="1400" b="0" kern="1200" dirty="0">
                          <a:solidFill>
                            <a:schemeClr val="dk1"/>
                          </a:solidFill>
                          <a:effectLst/>
                        </a:rPr>
                        <a:t>Kang, H. K., Bullman, T. A., </a:t>
                      </a:r>
                      <a:r>
                        <a:rPr lang="en-IN" sz="1400" b="0" kern="1200" dirty="0" err="1">
                          <a:solidFill>
                            <a:schemeClr val="dk1"/>
                          </a:solidFill>
                          <a:effectLst/>
                        </a:rPr>
                        <a:t>Smolenski</a:t>
                      </a:r>
                      <a:r>
                        <a:rPr lang="en-IN" sz="1400" b="0" kern="1200" dirty="0">
                          <a:solidFill>
                            <a:schemeClr val="dk1"/>
                          </a:solidFill>
                          <a:effectLst/>
                        </a:rPr>
                        <a:t>, D. J., </a:t>
                      </a:r>
                      <a:r>
                        <a:rPr lang="en-IN" sz="1400" b="0" kern="1200" dirty="0" err="1">
                          <a:solidFill>
                            <a:schemeClr val="dk1"/>
                          </a:solidFill>
                          <a:effectLst/>
                        </a:rPr>
                        <a:t>Skopp</a:t>
                      </a:r>
                      <a:r>
                        <a:rPr lang="en-IN" sz="1400" b="0" kern="1200" dirty="0">
                          <a:solidFill>
                            <a:schemeClr val="dk1"/>
                          </a:solidFill>
                          <a:effectLst/>
                        </a:rPr>
                        <a:t>, N. A., </a:t>
                      </a:r>
                      <a:r>
                        <a:rPr lang="en-IN" sz="1400" b="0" kern="1200" dirty="0" err="1">
                          <a:solidFill>
                            <a:schemeClr val="dk1"/>
                          </a:solidFill>
                          <a:effectLst/>
                        </a:rPr>
                        <a:t>Gahm</a:t>
                      </a:r>
                      <a:r>
                        <a:rPr lang="en-IN" sz="1400" b="0" kern="1200" dirty="0">
                          <a:solidFill>
                            <a:schemeClr val="dk1"/>
                          </a:solidFill>
                          <a:effectLst/>
                        </a:rPr>
                        <a:t>, G.     A., &amp; Reger, M. A.</a:t>
                      </a:r>
                      <a:endParaRPr lang="da-DK" sz="1400" dirty="0"/>
                    </a:p>
                  </a:txBody>
                  <a:tcPr marL="50015" marR="50015" marT="25008" marB="25008" anchor="ctr"/>
                </a:tc>
                <a:tc>
                  <a:txBody>
                    <a:bodyPr/>
                    <a:lstStyle/>
                    <a:p>
                      <a:r>
                        <a:rPr lang="en-US" sz="1400" dirty="0"/>
                        <a:t>Mortality data analysis, statistical methods</a:t>
                      </a:r>
                      <a:endParaRPr lang="en-IN" sz="1400" dirty="0"/>
                    </a:p>
                  </a:txBody>
                  <a:tcPr marL="50015" marR="50015" marT="25008" marB="25008" anchor="ctr"/>
                </a:tc>
                <a:tc>
                  <a:txBody>
                    <a:bodyPr/>
                    <a:lstStyle/>
                    <a:p>
                      <a:r>
                        <a:rPr lang="en-US" sz="1400" dirty="0"/>
                        <a:t>Difficulty in identifying specific causal factors for elevated suicide rates; need for targeted interventions for high-risk subgroups</a:t>
                      </a:r>
                      <a:endParaRPr lang="en-IN" sz="1400" dirty="0"/>
                    </a:p>
                  </a:txBody>
                  <a:tcPr marL="50015" marR="50015" marT="25008" marB="25008" anchor="ctr"/>
                </a:tc>
                <a:extLst>
                  <a:ext uri="{0D108BD9-81ED-4DB2-BD59-A6C34878D82A}">
                    <a16:rowId xmlns:a16="http://schemas.microsoft.com/office/drawing/2014/main" val="3628386841"/>
                  </a:ext>
                </a:extLst>
              </a:tr>
            </a:tbl>
          </a:graphicData>
        </a:graphic>
      </p:graphicFrame>
    </p:spTree>
    <p:extLst>
      <p:ext uri="{BB962C8B-B14F-4D97-AF65-F5344CB8AC3E}">
        <p14:creationId xmlns:p14="http://schemas.microsoft.com/office/powerpoint/2010/main" val="768489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7BCB7AEA-8545-3094-3CA4-7F7C73A9BAC7}"/>
              </a:ext>
            </a:extLst>
          </p:cNvPr>
          <p:cNvGraphicFramePr>
            <a:graphicFrameLocks noGrp="1"/>
          </p:cNvGraphicFramePr>
          <p:nvPr>
            <p:ph idx="1"/>
            <p:extLst>
              <p:ext uri="{D42A27DB-BD31-4B8C-83A1-F6EECF244321}">
                <p14:modId xmlns:p14="http://schemas.microsoft.com/office/powerpoint/2010/main" val="1444550579"/>
              </p:ext>
            </p:extLst>
          </p:nvPr>
        </p:nvGraphicFramePr>
        <p:xfrm>
          <a:off x="0" y="97331"/>
          <a:ext cx="12192000" cy="6663338"/>
        </p:xfrm>
        <a:graphic>
          <a:graphicData uri="http://schemas.openxmlformats.org/drawingml/2006/table">
            <a:tbl>
              <a:tblPr>
                <a:tableStyleId>{BC89EF96-8CEA-46FF-86C4-4CE0E7609802}</a:tableStyleId>
              </a:tblPr>
              <a:tblGrid>
                <a:gridCol w="3048000">
                  <a:extLst>
                    <a:ext uri="{9D8B030D-6E8A-4147-A177-3AD203B41FA5}">
                      <a16:colId xmlns:a16="http://schemas.microsoft.com/office/drawing/2014/main" val="689982108"/>
                    </a:ext>
                  </a:extLst>
                </a:gridCol>
                <a:gridCol w="3034748">
                  <a:extLst>
                    <a:ext uri="{9D8B030D-6E8A-4147-A177-3AD203B41FA5}">
                      <a16:colId xmlns:a16="http://schemas.microsoft.com/office/drawing/2014/main" val="366454946"/>
                    </a:ext>
                  </a:extLst>
                </a:gridCol>
                <a:gridCol w="3061252">
                  <a:extLst>
                    <a:ext uri="{9D8B030D-6E8A-4147-A177-3AD203B41FA5}">
                      <a16:colId xmlns:a16="http://schemas.microsoft.com/office/drawing/2014/main" val="1352013622"/>
                    </a:ext>
                  </a:extLst>
                </a:gridCol>
                <a:gridCol w="3048000">
                  <a:extLst>
                    <a:ext uri="{9D8B030D-6E8A-4147-A177-3AD203B41FA5}">
                      <a16:colId xmlns:a16="http://schemas.microsoft.com/office/drawing/2014/main" val="3097964210"/>
                    </a:ext>
                  </a:extLst>
                </a:gridCol>
              </a:tblGrid>
              <a:tr h="434244">
                <a:tc>
                  <a:txBody>
                    <a:bodyPr/>
                    <a:lstStyle/>
                    <a:p>
                      <a:r>
                        <a:rPr lang="en-IN" sz="1400" b="1" dirty="0"/>
                        <a:t>Research Paper Title</a:t>
                      </a:r>
                      <a:endParaRPr lang="en-IN" sz="1400" dirty="0"/>
                    </a:p>
                  </a:txBody>
                  <a:tcPr marL="48348" marR="48348" marT="24174" marB="24174" anchor="ctr"/>
                </a:tc>
                <a:tc>
                  <a:txBody>
                    <a:bodyPr/>
                    <a:lstStyle/>
                    <a:p>
                      <a:r>
                        <a:rPr lang="en-IN" sz="1400" b="1"/>
                        <a:t>Author(s)</a:t>
                      </a:r>
                      <a:endParaRPr lang="en-IN" sz="1400"/>
                    </a:p>
                  </a:txBody>
                  <a:tcPr marL="48348" marR="48348" marT="24174" marB="24174" anchor="ctr"/>
                </a:tc>
                <a:tc>
                  <a:txBody>
                    <a:bodyPr/>
                    <a:lstStyle/>
                    <a:p>
                      <a:r>
                        <a:rPr lang="en-IN" sz="1400" b="1"/>
                        <a:t>Algorithms Used</a:t>
                      </a:r>
                      <a:endParaRPr lang="en-IN" sz="1400"/>
                    </a:p>
                  </a:txBody>
                  <a:tcPr marL="48348" marR="48348" marT="24174" marB="24174" anchor="ctr"/>
                </a:tc>
                <a:tc>
                  <a:txBody>
                    <a:bodyPr/>
                    <a:lstStyle/>
                    <a:p>
                      <a:r>
                        <a:rPr lang="en-IN" sz="1400" b="1"/>
                        <a:t>Issues Encountered</a:t>
                      </a:r>
                      <a:endParaRPr lang="en-IN" sz="1400"/>
                    </a:p>
                  </a:txBody>
                  <a:tcPr marL="48348" marR="48348" marT="24174" marB="24174" anchor="ctr"/>
                </a:tc>
                <a:extLst>
                  <a:ext uri="{0D108BD9-81ED-4DB2-BD59-A6C34878D82A}">
                    <a16:rowId xmlns:a16="http://schemas.microsoft.com/office/drawing/2014/main" val="2070415941"/>
                  </a:ext>
                </a:extLst>
              </a:tr>
              <a:tr h="1593490">
                <a:tc>
                  <a:txBody>
                    <a:bodyPr/>
                    <a:lstStyle/>
                    <a:p>
                      <a:r>
                        <a:rPr lang="en-US" sz="1400" b="1" dirty="0"/>
                        <a:t>11.The Effects of Alcohol Problems, PTSD, and Combat Exposure on Nonphysical and Physical Aggression Among Iraq and Afghanistan War Veterans</a:t>
                      </a:r>
                      <a:endParaRPr lang="en-US" sz="1400" dirty="0"/>
                    </a:p>
                  </a:txBody>
                  <a:tcPr marL="48348" marR="48348" marT="24174" marB="24174" anchor="ctr"/>
                </a:tc>
                <a:tc>
                  <a:txBody>
                    <a:bodyPr/>
                    <a:lstStyle/>
                    <a:p>
                      <a:r>
                        <a:rPr lang="en-IN" sz="1400"/>
                        <a:t>Cynthia A Stappenbeck, Julianne C Hellmuth, Tracy Simpson, Matthew Jakupcak</a:t>
                      </a:r>
                    </a:p>
                  </a:txBody>
                  <a:tcPr marL="48348" marR="48348" marT="24174" marB="24174" anchor="ctr"/>
                </a:tc>
                <a:tc>
                  <a:txBody>
                    <a:bodyPr/>
                    <a:lstStyle/>
                    <a:p>
                      <a:r>
                        <a:rPr lang="en-IN" sz="1400"/>
                        <a:t>Regression analyses</a:t>
                      </a:r>
                    </a:p>
                  </a:txBody>
                  <a:tcPr marL="48348" marR="48348" marT="24174" marB="24174" anchor="ctr"/>
                </a:tc>
                <a:tc>
                  <a:txBody>
                    <a:bodyPr/>
                    <a:lstStyle/>
                    <a:p>
                      <a:r>
                        <a:rPr lang="en-IN" sz="1400" dirty="0"/>
                        <a:t>No specific issues mentioned</a:t>
                      </a:r>
                    </a:p>
                  </a:txBody>
                  <a:tcPr marL="48348" marR="48348" marT="24174" marB="24174" anchor="ctr"/>
                </a:tc>
                <a:extLst>
                  <a:ext uri="{0D108BD9-81ED-4DB2-BD59-A6C34878D82A}">
                    <a16:rowId xmlns:a16="http://schemas.microsoft.com/office/drawing/2014/main" val="1849002611"/>
                  </a:ext>
                </a:extLst>
              </a:tr>
              <a:tr h="1158901">
                <a:tc>
                  <a:txBody>
                    <a:bodyPr/>
                    <a:lstStyle/>
                    <a:p>
                      <a:r>
                        <a:rPr lang="en-US" sz="1400" b="1" dirty="0"/>
                        <a:t>12.Prevalence and Correlates of Alcohol Misuse among Returning Afghanistan and Iraq Veterans</a:t>
                      </a:r>
                      <a:endParaRPr lang="en-US" sz="1400" dirty="0"/>
                    </a:p>
                  </a:txBody>
                  <a:tcPr marL="48348" marR="48348" marT="24174" marB="24174" anchor="ctr"/>
                </a:tc>
                <a:tc>
                  <a:txBody>
                    <a:bodyPr/>
                    <a:lstStyle/>
                    <a:p>
                      <a:r>
                        <a:rPr lang="en-IN" sz="1400" dirty="0"/>
                        <a:t>I. Burnett-Zeigler et al.</a:t>
                      </a:r>
                    </a:p>
                  </a:txBody>
                  <a:tcPr marL="48348" marR="48348" marT="24174" marB="24174" anchor="ctr"/>
                </a:tc>
                <a:tc>
                  <a:txBody>
                    <a:bodyPr/>
                    <a:lstStyle/>
                    <a:p>
                      <a:r>
                        <a:rPr lang="en-IN" sz="1400"/>
                        <a:t>Logistic regression</a:t>
                      </a:r>
                    </a:p>
                  </a:txBody>
                  <a:tcPr marL="48348" marR="48348" marT="24174" marB="24174" anchor="ctr"/>
                </a:tc>
                <a:tc>
                  <a:txBody>
                    <a:bodyPr/>
                    <a:lstStyle/>
                    <a:p>
                      <a:r>
                        <a:rPr lang="en-US" sz="1400"/>
                        <a:t>Alcohol misuse prevalence and correlates were complex to evaluate due to diverse factors impacting veterans.</a:t>
                      </a:r>
                    </a:p>
                  </a:txBody>
                  <a:tcPr marL="48348" marR="48348" marT="24174" marB="24174" anchor="ctr"/>
                </a:tc>
                <a:extLst>
                  <a:ext uri="{0D108BD9-81ED-4DB2-BD59-A6C34878D82A}">
                    <a16:rowId xmlns:a16="http://schemas.microsoft.com/office/drawing/2014/main" val="2656688490"/>
                  </a:ext>
                </a:extLst>
              </a:tr>
              <a:tr h="1158901">
                <a:tc>
                  <a:txBody>
                    <a:bodyPr/>
                    <a:lstStyle/>
                    <a:p>
                      <a:r>
                        <a:rPr lang="en-US" sz="1400" b="1" dirty="0"/>
                        <a:t>13.Postdeployment Alcohol Use, Aggression, and Post-Traumatic Stress Disorder</a:t>
                      </a:r>
                      <a:endParaRPr lang="en-US" sz="1400" dirty="0"/>
                    </a:p>
                  </a:txBody>
                  <a:tcPr marL="48348" marR="48348" marT="24174" marB="24174" anchor="ctr"/>
                </a:tc>
                <a:tc>
                  <a:txBody>
                    <a:bodyPr/>
                    <a:lstStyle/>
                    <a:p>
                      <a:r>
                        <a:rPr lang="en-US" sz="1400" dirty="0"/>
                        <a:t>J. M. Brown, J. Williams, R. M. Bray, and L. Hourani</a:t>
                      </a:r>
                    </a:p>
                  </a:txBody>
                  <a:tcPr marL="48348" marR="48348" marT="24174" marB="24174" anchor="ctr"/>
                </a:tc>
                <a:tc>
                  <a:txBody>
                    <a:bodyPr/>
                    <a:lstStyle/>
                    <a:p>
                      <a:r>
                        <a:rPr lang="en-IN" sz="1400" dirty="0"/>
                        <a:t>Regression analyses</a:t>
                      </a:r>
                    </a:p>
                  </a:txBody>
                  <a:tcPr marL="48348" marR="48348" marT="24174" marB="24174" anchor="ctr"/>
                </a:tc>
                <a:tc>
                  <a:txBody>
                    <a:bodyPr/>
                    <a:lstStyle/>
                    <a:p>
                      <a:r>
                        <a:rPr lang="en-US" sz="1400"/>
                        <a:t>Complexity in understanding how alcohol and PTSD symptoms interact with aggression.</a:t>
                      </a:r>
                    </a:p>
                  </a:txBody>
                  <a:tcPr marL="48348" marR="48348" marT="24174" marB="24174" anchor="ctr"/>
                </a:tc>
                <a:extLst>
                  <a:ext uri="{0D108BD9-81ED-4DB2-BD59-A6C34878D82A}">
                    <a16:rowId xmlns:a16="http://schemas.microsoft.com/office/drawing/2014/main" val="2966371361"/>
                  </a:ext>
                </a:extLst>
              </a:tr>
              <a:tr h="1158901">
                <a:tc>
                  <a:txBody>
                    <a:bodyPr/>
                    <a:lstStyle/>
                    <a:p>
                      <a:r>
                        <a:rPr lang="en-US" sz="1400" b="1" dirty="0"/>
                        <a:t>14.An Exploratory Examination of Risk-Taking Behavior and PTSD Symptom Severity in a Veteran Sample</a:t>
                      </a:r>
                      <a:endParaRPr lang="en-US" sz="1400" dirty="0"/>
                    </a:p>
                  </a:txBody>
                  <a:tcPr marL="48348" marR="48348" marT="24174" marB="24174" anchor="ctr"/>
                </a:tc>
                <a:tc>
                  <a:txBody>
                    <a:bodyPr/>
                    <a:lstStyle/>
                    <a:p>
                      <a:r>
                        <a:rPr lang="en-IN" sz="1400" dirty="0"/>
                        <a:t>Thad Q. Strom et al.</a:t>
                      </a:r>
                    </a:p>
                  </a:txBody>
                  <a:tcPr marL="48348" marR="48348" marT="24174" marB="24174" anchor="ctr"/>
                </a:tc>
                <a:tc>
                  <a:txBody>
                    <a:bodyPr/>
                    <a:lstStyle/>
                    <a:p>
                      <a:r>
                        <a:rPr lang="en-IN" sz="1400"/>
                        <a:t>Correlation and regression analyses</a:t>
                      </a:r>
                    </a:p>
                  </a:txBody>
                  <a:tcPr marL="48348" marR="48348" marT="24174" marB="24174" anchor="ctr"/>
                </a:tc>
                <a:tc>
                  <a:txBody>
                    <a:bodyPr/>
                    <a:lstStyle/>
                    <a:p>
                      <a:r>
                        <a:rPr lang="en-US" sz="1400"/>
                        <a:t>Link between PTSD and risk-taking behaviors was not fully understood.</a:t>
                      </a:r>
                    </a:p>
                  </a:txBody>
                  <a:tcPr marL="48348" marR="48348" marT="24174" marB="24174" anchor="ctr"/>
                </a:tc>
                <a:extLst>
                  <a:ext uri="{0D108BD9-81ED-4DB2-BD59-A6C34878D82A}">
                    <a16:rowId xmlns:a16="http://schemas.microsoft.com/office/drawing/2014/main" val="2685658354"/>
                  </a:ext>
                </a:extLst>
              </a:tr>
              <a:tr h="1158901">
                <a:tc>
                  <a:txBody>
                    <a:bodyPr/>
                    <a:lstStyle/>
                    <a:p>
                      <a:r>
                        <a:rPr lang="en-US" sz="1400" b="1" dirty="0"/>
                        <a:t>15.Psychometric Analysis of the PTSD Checklist-5 (PCL-5) among Treatment-Seeking Military Service Members</a:t>
                      </a:r>
                      <a:endParaRPr lang="en-US" sz="1400" dirty="0"/>
                    </a:p>
                  </a:txBody>
                  <a:tcPr marL="48348" marR="48348" marT="24174" marB="24174" anchor="ctr"/>
                </a:tc>
                <a:tc>
                  <a:txBody>
                    <a:bodyPr/>
                    <a:lstStyle/>
                    <a:p>
                      <a:r>
                        <a:rPr lang="de-DE" sz="1400" dirty="0"/>
                        <a:t>Jennifer H. Wortmann et al.</a:t>
                      </a:r>
                    </a:p>
                  </a:txBody>
                  <a:tcPr marL="48348" marR="48348" marT="24174" marB="24174" anchor="ctr"/>
                </a:tc>
                <a:tc>
                  <a:txBody>
                    <a:bodyPr/>
                    <a:lstStyle/>
                    <a:p>
                      <a:r>
                        <a:rPr lang="en-US" sz="1400"/>
                        <a:t>Confirmatory factor analysis, Reliability analyses</a:t>
                      </a:r>
                    </a:p>
                  </a:txBody>
                  <a:tcPr marL="48348" marR="48348" marT="24174" marB="24174" anchor="ctr"/>
                </a:tc>
                <a:tc>
                  <a:txBody>
                    <a:bodyPr/>
                    <a:lstStyle/>
                    <a:p>
                      <a:r>
                        <a:rPr lang="en-US" sz="1400" dirty="0"/>
                        <a:t>Validating the PCL-5 for military service members seeking treatment presented challenges.</a:t>
                      </a:r>
                    </a:p>
                  </a:txBody>
                  <a:tcPr marL="48348" marR="48348" marT="24174" marB="24174" anchor="ctr"/>
                </a:tc>
                <a:extLst>
                  <a:ext uri="{0D108BD9-81ED-4DB2-BD59-A6C34878D82A}">
                    <a16:rowId xmlns:a16="http://schemas.microsoft.com/office/drawing/2014/main" val="3602107951"/>
                  </a:ext>
                </a:extLst>
              </a:tr>
            </a:tbl>
          </a:graphicData>
        </a:graphic>
      </p:graphicFrame>
    </p:spTree>
    <p:extLst>
      <p:ext uri="{BB962C8B-B14F-4D97-AF65-F5344CB8AC3E}">
        <p14:creationId xmlns:p14="http://schemas.microsoft.com/office/powerpoint/2010/main" val="1569923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15">
            <a:extLst>
              <a:ext uri="{FF2B5EF4-FFF2-40B4-BE49-F238E27FC236}">
                <a16:creationId xmlns:a16="http://schemas.microsoft.com/office/drawing/2014/main" id="{17E299A1-0941-591E-B628-7DEE955F7479}"/>
              </a:ext>
            </a:extLst>
          </p:cNvPr>
          <p:cNvGraphicFramePr>
            <a:graphicFrameLocks noGrp="1"/>
          </p:cNvGraphicFramePr>
          <p:nvPr>
            <p:ph idx="1"/>
            <p:extLst>
              <p:ext uri="{D42A27DB-BD31-4B8C-83A1-F6EECF244321}">
                <p14:modId xmlns:p14="http://schemas.microsoft.com/office/powerpoint/2010/main" val="154519336"/>
              </p:ext>
            </p:extLst>
          </p:nvPr>
        </p:nvGraphicFramePr>
        <p:xfrm>
          <a:off x="0" y="107209"/>
          <a:ext cx="12192000" cy="6643581"/>
        </p:xfrm>
        <a:graphic>
          <a:graphicData uri="http://schemas.openxmlformats.org/drawingml/2006/table">
            <a:tbl>
              <a:tblPr>
                <a:tableStyleId>{BC89EF96-8CEA-46FF-86C4-4CE0E7609802}</a:tableStyleId>
              </a:tblPr>
              <a:tblGrid>
                <a:gridCol w="3048000">
                  <a:extLst>
                    <a:ext uri="{9D8B030D-6E8A-4147-A177-3AD203B41FA5}">
                      <a16:colId xmlns:a16="http://schemas.microsoft.com/office/drawing/2014/main" val="3971597721"/>
                    </a:ext>
                  </a:extLst>
                </a:gridCol>
                <a:gridCol w="3048000">
                  <a:extLst>
                    <a:ext uri="{9D8B030D-6E8A-4147-A177-3AD203B41FA5}">
                      <a16:colId xmlns:a16="http://schemas.microsoft.com/office/drawing/2014/main" val="1531536395"/>
                    </a:ext>
                  </a:extLst>
                </a:gridCol>
                <a:gridCol w="3048000">
                  <a:extLst>
                    <a:ext uri="{9D8B030D-6E8A-4147-A177-3AD203B41FA5}">
                      <a16:colId xmlns:a16="http://schemas.microsoft.com/office/drawing/2014/main" val="324552806"/>
                    </a:ext>
                  </a:extLst>
                </a:gridCol>
                <a:gridCol w="3048000">
                  <a:extLst>
                    <a:ext uri="{9D8B030D-6E8A-4147-A177-3AD203B41FA5}">
                      <a16:colId xmlns:a16="http://schemas.microsoft.com/office/drawing/2014/main" val="2363144668"/>
                    </a:ext>
                  </a:extLst>
                </a:gridCol>
              </a:tblGrid>
              <a:tr h="452562">
                <a:tc>
                  <a:txBody>
                    <a:bodyPr/>
                    <a:lstStyle/>
                    <a:p>
                      <a:r>
                        <a:rPr lang="en-IN" sz="1400" b="1" dirty="0"/>
                        <a:t>Research Paper Title</a:t>
                      </a:r>
                      <a:endParaRPr lang="en-IN" sz="1400" dirty="0"/>
                    </a:p>
                  </a:txBody>
                  <a:tcPr marL="50015" marR="50015" marT="25008" marB="25008" anchor="ctr"/>
                </a:tc>
                <a:tc>
                  <a:txBody>
                    <a:bodyPr/>
                    <a:lstStyle/>
                    <a:p>
                      <a:r>
                        <a:rPr lang="en-IN" sz="1400" b="1"/>
                        <a:t>Author(s)</a:t>
                      </a:r>
                      <a:endParaRPr lang="en-IN" sz="1400"/>
                    </a:p>
                  </a:txBody>
                  <a:tcPr marL="50015" marR="50015" marT="25008" marB="25008" anchor="ctr"/>
                </a:tc>
                <a:tc>
                  <a:txBody>
                    <a:bodyPr/>
                    <a:lstStyle/>
                    <a:p>
                      <a:r>
                        <a:rPr lang="en-IN" sz="1400" b="1"/>
                        <a:t>Algorithms Used</a:t>
                      </a:r>
                      <a:endParaRPr lang="en-IN" sz="1400"/>
                    </a:p>
                  </a:txBody>
                  <a:tcPr marL="50015" marR="50015" marT="25008" marB="25008" anchor="ctr"/>
                </a:tc>
                <a:tc>
                  <a:txBody>
                    <a:bodyPr/>
                    <a:lstStyle/>
                    <a:p>
                      <a:r>
                        <a:rPr lang="en-IN" sz="1400" b="1"/>
                        <a:t>Issues Encountered</a:t>
                      </a:r>
                      <a:endParaRPr lang="en-IN" sz="1400"/>
                    </a:p>
                  </a:txBody>
                  <a:tcPr marL="50015" marR="50015" marT="25008" marB="25008" anchor="ctr"/>
                </a:tc>
                <a:extLst>
                  <a:ext uri="{0D108BD9-81ED-4DB2-BD59-A6C34878D82A}">
                    <a16:rowId xmlns:a16="http://schemas.microsoft.com/office/drawing/2014/main" val="232847924"/>
                  </a:ext>
                </a:extLst>
              </a:tr>
              <a:tr h="1151739">
                <a:tc>
                  <a:txBody>
                    <a:bodyPr/>
                    <a:lstStyle/>
                    <a:p>
                      <a:r>
                        <a:rPr lang="en-US" sz="1400" b="1" dirty="0"/>
                        <a:t>16.Association of </a:t>
                      </a:r>
                      <a:r>
                        <a:rPr lang="en-US" sz="1400" b="1" dirty="0" err="1"/>
                        <a:t>Predeployment</a:t>
                      </a:r>
                      <a:r>
                        <a:rPr lang="en-US" sz="1400" b="1" dirty="0"/>
                        <a:t> Heart Rate Variability with Risk of </a:t>
                      </a:r>
                      <a:r>
                        <a:rPr lang="en-US" sz="1400" b="1" dirty="0" err="1"/>
                        <a:t>Postdeployment</a:t>
                      </a:r>
                      <a:r>
                        <a:rPr lang="en-US" sz="1400" b="1" dirty="0"/>
                        <a:t> PTSD in Active-Duty Marines</a:t>
                      </a:r>
                      <a:endParaRPr lang="en-US" sz="1400" dirty="0"/>
                    </a:p>
                  </a:txBody>
                  <a:tcPr marL="50015" marR="50015" marT="25008" marB="25008" anchor="ctr"/>
                </a:tc>
                <a:tc>
                  <a:txBody>
                    <a:bodyPr/>
                    <a:lstStyle/>
                    <a:p>
                      <a:r>
                        <a:rPr lang="en-IN" sz="1400"/>
                        <a:t>A. Minassian et al.</a:t>
                      </a:r>
                    </a:p>
                  </a:txBody>
                  <a:tcPr marL="50015" marR="50015" marT="25008" marB="25008" anchor="ctr"/>
                </a:tc>
                <a:tc>
                  <a:txBody>
                    <a:bodyPr/>
                    <a:lstStyle/>
                    <a:p>
                      <a:r>
                        <a:rPr lang="en-IN" sz="1400"/>
                        <a:t>Logistic regression</a:t>
                      </a:r>
                    </a:p>
                  </a:txBody>
                  <a:tcPr marL="50015" marR="50015" marT="25008" marB="25008" anchor="ctr"/>
                </a:tc>
                <a:tc>
                  <a:txBody>
                    <a:bodyPr/>
                    <a:lstStyle/>
                    <a:p>
                      <a:r>
                        <a:rPr lang="en-US" sz="1400"/>
                        <a:t>Complex relationship between HRV and PTSD risk in Marines, with variability in outcomes.</a:t>
                      </a:r>
                    </a:p>
                  </a:txBody>
                  <a:tcPr marL="50015" marR="50015" marT="25008" marB="25008" anchor="ctr"/>
                </a:tc>
                <a:extLst>
                  <a:ext uri="{0D108BD9-81ED-4DB2-BD59-A6C34878D82A}">
                    <a16:rowId xmlns:a16="http://schemas.microsoft.com/office/drawing/2014/main" val="1337570914"/>
                  </a:ext>
                </a:extLst>
              </a:tr>
              <a:tr h="1151739">
                <a:tc>
                  <a:txBody>
                    <a:bodyPr/>
                    <a:lstStyle/>
                    <a:p>
                      <a:r>
                        <a:rPr lang="en-US" sz="1400" b="1" dirty="0"/>
                        <a:t>17.Ecological Momentary Assessment of PTSD Symptoms and Alcohol Use in Combat Veterans</a:t>
                      </a:r>
                      <a:endParaRPr lang="en-US" sz="1400" dirty="0"/>
                    </a:p>
                  </a:txBody>
                  <a:tcPr marL="50015" marR="50015" marT="25008" marB="25008" anchor="ctr"/>
                </a:tc>
                <a:tc>
                  <a:txBody>
                    <a:bodyPr/>
                    <a:lstStyle/>
                    <a:p>
                      <a:r>
                        <a:rPr lang="en-IN" sz="1400"/>
                        <a:t>K. Possemato et al.</a:t>
                      </a:r>
                    </a:p>
                  </a:txBody>
                  <a:tcPr marL="50015" marR="50015" marT="25008" marB="25008" anchor="ctr"/>
                </a:tc>
                <a:tc>
                  <a:txBody>
                    <a:bodyPr/>
                    <a:lstStyle/>
                    <a:p>
                      <a:r>
                        <a:rPr lang="en-IN" sz="1400"/>
                        <a:t>Mixed-effects models</a:t>
                      </a:r>
                    </a:p>
                  </a:txBody>
                  <a:tcPr marL="50015" marR="50015" marT="25008" marB="25008" anchor="ctr"/>
                </a:tc>
                <a:tc>
                  <a:txBody>
                    <a:bodyPr/>
                    <a:lstStyle/>
                    <a:p>
                      <a:r>
                        <a:rPr lang="en-US" sz="1400"/>
                        <a:t>The dynamic relationship between PTSD symptoms and alcohol use was complex and fluctuated over time.</a:t>
                      </a:r>
                    </a:p>
                  </a:txBody>
                  <a:tcPr marL="50015" marR="50015" marT="25008" marB="25008" anchor="ctr"/>
                </a:tc>
                <a:extLst>
                  <a:ext uri="{0D108BD9-81ED-4DB2-BD59-A6C34878D82A}">
                    <a16:rowId xmlns:a16="http://schemas.microsoft.com/office/drawing/2014/main" val="2505289738"/>
                  </a:ext>
                </a:extLst>
              </a:tr>
              <a:tr h="1151739">
                <a:tc>
                  <a:txBody>
                    <a:bodyPr/>
                    <a:lstStyle/>
                    <a:p>
                      <a:r>
                        <a:rPr lang="en-US" sz="1400" b="1" dirty="0"/>
                        <a:t>18.The PTSD Checklist-Civilian Version: Reliability, Validity, and Factor Structure in a Nonclinical Sample</a:t>
                      </a:r>
                      <a:endParaRPr lang="en-US" sz="1400" dirty="0"/>
                    </a:p>
                  </a:txBody>
                  <a:tcPr marL="50015" marR="50015" marT="25008" marB="25008" anchor="ctr"/>
                </a:tc>
                <a:tc>
                  <a:txBody>
                    <a:bodyPr/>
                    <a:lstStyle/>
                    <a:p>
                      <a:r>
                        <a:rPr lang="en-IN" sz="1400"/>
                        <a:t>D. Conybeare, E. Behar, A. Solomon, M. Newman, and T. Borkovec</a:t>
                      </a:r>
                    </a:p>
                  </a:txBody>
                  <a:tcPr marL="50015" marR="50015" marT="25008" marB="25008" anchor="ctr"/>
                </a:tc>
                <a:tc>
                  <a:txBody>
                    <a:bodyPr/>
                    <a:lstStyle/>
                    <a:p>
                      <a:r>
                        <a:rPr lang="en-IN" sz="1400" dirty="0"/>
                        <a:t>Factor analysis (exploratory, confirmatory)</a:t>
                      </a:r>
                    </a:p>
                  </a:txBody>
                  <a:tcPr marL="50015" marR="50015" marT="25008" marB="25008" anchor="ctr"/>
                </a:tc>
                <a:tc>
                  <a:txBody>
                    <a:bodyPr/>
                    <a:lstStyle/>
                    <a:p>
                      <a:r>
                        <a:rPr lang="en-US" sz="1400"/>
                        <a:t>Difficulty in establishing the factor structure due to varying PTSD symptoms in nonclinical populations.</a:t>
                      </a:r>
                    </a:p>
                  </a:txBody>
                  <a:tcPr marL="50015" marR="50015" marT="25008" marB="25008" anchor="ctr"/>
                </a:tc>
                <a:extLst>
                  <a:ext uri="{0D108BD9-81ED-4DB2-BD59-A6C34878D82A}">
                    <a16:rowId xmlns:a16="http://schemas.microsoft.com/office/drawing/2014/main" val="271296901"/>
                  </a:ext>
                </a:extLst>
              </a:tr>
              <a:tr h="1367901">
                <a:tc>
                  <a:txBody>
                    <a:bodyPr/>
                    <a:lstStyle/>
                    <a:p>
                      <a:r>
                        <a:rPr lang="en-US" sz="1400" b="1" dirty="0"/>
                        <a:t>19.An Alternative Evaluation of PTSD with Machine Learning Methods</a:t>
                      </a:r>
                      <a:endParaRPr lang="en-US" sz="1400" dirty="0"/>
                    </a:p>
                  </a:txBody>
                  <a:tcPr marL="50015" marR="50015" marT="25008" marB="25008" anchor="ctr"/>
                </a:tc>
                <a:tc>
                  <a:txBody>
                    <a:bodyPr/>
                    <a:lstStyle/>
                    <a:p>
                      <a:r>
                        <a:rPr lang="en-US" sz="1400" dirty="0"/>
                        <a:t>S. I. </a:t>
                      </a:r>
                      <a:r>
                        <a:rPr lang="en-US" sz="1400" dirty="0" err="1"/>
                        <a:t>Omurca</a:t>
                      </a:r>
                      <a:r>
                        <a:rPr lang="en-US" sz="1400" dirty="0"/>
                        <a:t> and E. </a:t>
                      </a:r>
                      <a:r>
                        <a:rPr lang="en-US" sz="1400" dirty="0" err="1"/>
                        <a:t>Ekinci</a:t>
                      </a:r>
                      <a:endParaRPr lang="en-US" sz="1400" dirty="0"/>
                    </a:p>
                  </a:txBody>
                  <a:tcPr marL="50015" marR="50015" marT="25008" marB="25008" anchor="ctr"/>
                </a:tc>
                <a:tc>
                  <a:txBody>
                    <a:bodyPr/>
                    <a:lstStyle/>
                    <a:p>
                      <a:r>
                        <a:rPr lang="en-US" sz="1400"/>
                        <a:t>Decision Trees, Support Vector Machines (SVM), Random Forests</a:t>
                      </a:r>
                    </a:p>
                  </a:txBody>
                  <a:tcPr marL="50015" marR="50015" marT="25008" marB="25008" anchor="ctr"/>
                </a:tc>
                <a:tc>
                  <a:txBody>
                    <a:bodyPr/>
                    <a:lstStyle/>
                    <a:p>
                      <a:r>
                        <a:rPr lang="en-US" sz="1400"/>
                        <a:t>Machine learning algorithms yielded high accuracy but posed challenges in interpretability and data variability.</a:t>
                      </a:r>
                    </a:p>
                  </a:txBody>
                  <a:tcPr marL="50015" marR="50015" marT="25008" marB="25008" anchor="ctr"/>
                </a:tc>
                <a:extLst>
                  <a:ext uri="{0D108BD9-81ED-4DB2-BD59-A6C34878D82A}">
                    <a16:rowId xmlns:a16="http://schemas.microsoft.com/office/drawing/2014/main" val="1852033942"/>
                  </a:ext>
                </a:extLst>
              </a:tr>
              <a:tr h="1367901">
                <a:tc>
                  <a:txBody>
                    <a:bodyPr/>
                    <a:lstStyle/>
                    <a:p>
                      <a:r>
                        <a:rPr lang="en-US" sz="1400" b="1" dirty="0"/>
                        <a:t>20.Adolescent Violence and Unintentional Injury in the United States</a:t>
                      </a:r>
                      <a:endParaRPr lang="en-US" sz="1400" dirty="0"/>
                    </a:p>
                  </a:txBody>
                  <a:tcPr marL="50015" marR="50015" marT="25008" marB="25008" anchor="ctr"/>
                </a:tc>
                <a:tc>
                  <a:txBody>
                    <a:bodyPr/>
                    <a:lstStyle/>
                    <a:p>
                      <a:r>
                        <a:rPr lang="en-US" sz="1400" dirty="0"/>
                        <a:t>National Center for Children in Poverty (NCCP)</a:t>
                      </a:r>
                    </a:p>
                  </a:txBody>
                  <a:tcPr marL="50015" marR="50015" marT="25008" marB="25008" anchor="ctr"/>
                </a:tc>
                <a:tc>
                  <a:txBody>
                    <a:bodyPr/>
                    <a:lstStyle/>
                    <a:p>
                      <a:r>
                        <a:rPr lang="en-IN" sz="1400"/>
                        <a:t>Not detailed in report</a:t>
                      </a:r>
                    </a:p>
                  </a:txBody>
                  <a:tcPr marL="50015" marR="50015" marT="25008" marB="25008" anchor="ctr"/>
                </a:tc>
                <a:tc>
                  <a:txBody>
                    <a:bodyPr/>
                    <a:lstStyle/>
                    <a:p>
                      <a:r>
                        <a:rPr lang="en-US" sz="1400" dirty="0"/>
                        <a:t>Complex risk factors related to socio-economic status, mental health, and community violence needed addressing.</a:t>
                      </a:r>
                    </a:p>
                  </a:txBody>
                  <a:tcPr marL="50015" marR="50015" marT="25008" marB="25008" anchor="ctr"/>
                </a:tc>
                <a:extLst>
                  <a:ext uri="{0D108BD9-81ED-4DB2-BD59-A6C34878D82A}">
                    <a16:rowId xmlns:a16="http://schemas.microsoft.com/office/drawing/2014/main" val="3702730920"/>
                  </a:ext>
                </a:extLst>
              </a:tr>
            </a:tbl>
          </a:graphicData>
        </a:graphic>
      </p:graphicFrame>
    </p:spTree>
    <p:extLst>
      <p:ext uri="{BB962C8B-B14F-4D97-AF65-F5344CB8AC3E}">
        <p14:creationId xmlns:p14="http://schemas.microsoft.com/office/powerpoint/2010/main" val="1194368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26FB-7758-7801-6E0B-85A8D6969B50}"/>
              </a:ext>
            </a:extLst>
          </p:cNvPr>
          <p:cNvSpPr>
            <a:spLocks noGrp="1"/>
          </p:cNvSpPr>
          <p:nvPr>
            <p:ph type="title"/>
          </p:nvPr>
        </p:nvSpPr>
        <p:spPr>
          <a:xfrm>
            <a:off x="668469" y="206342"/>
            <a:ext cx="10018713" cy="1752599"/>
          </a:xfrm>
        </p:spPr>
        <p:txBody>
          <a:bodyPr/>
          <a:lstStyle/>
          <a:p>
            <a:r>
              <a:rPr lang="en-IN" dirty="0">
                <a:latin typeface="EB Garamond SemiBold" panose="00000700000000000000" pitchFamily="2" charset="0"/>
                <a:ea typeface="EB Garamond SemiBold" panose="00000700000000000000" pitchFamily="2" charset="0"/>
              </a:rPr>
              <a:t>LIST OF MODULES</a:t>
            </a:r>
          </a:p>
        </p:txBody>
      </p:sp>
      <p:sp>
        <p:nvSpPr>
          <p:cNvPr id="3" name="TextBox 2">
            <a:extLst>
              <a:ext uri="{FF2B5EF4-FFF2-40B4-BE49-F238E27FC236}">
                <a16:creationId xmlns:a16="http://schemas.microsoft.com/office/drawing/2014/main" id="{5B29BA42-54E7-9B3E-47C6-6F2A8A94D0C4}"/>
              </a:ext>
            </a:extLst>
          </p:cNvPr>
          <p:cNvSpPr txBox="1"/>
          <p:nvPr/>
        </p:nvSpPr>
        <p:spPr>
          <a:xfrm>
            <a:off x="1306036" y="1720382"/>
            <a:ext cx="9799320" cy="4801314"/>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1. Data Processing Modules</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NumPy</a:t>
            </a:r>
            <a:r>
              <a:rPr lang="en-IN" dirty="0">
                <a:latin typeface="Arial" panose="020B0604020202020204" pitchFamily="34" charset="0"/>
                <a:cs typeface="Arial" panose="020B0604020202020204" pitchFamily="34" charset="0"/>
              </a:rPr>
              <a:t>: For numerical computations.</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Pandas</a:t>
            </a:r>
            <a:r>
              <a:rPr lang="en-IN" dirty="0">
                <a:latin typeface="Arial" panose="020B0604020202020204" pitchFamily="34" charset="0"/>
                <a:cs typeface="Arial" panose="020B0604020202020204" pitchFamily="34" charset="0"/>
              </a:rPr>
              <a:t>: For data manipulation and preprocessing.</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scikit-</a:t>
            </a:r>
            <a:r>
              <a:rPr lang="en-IN" b="1" dirty="0" err="1">
                <a:latin typeface="Arial" panose="020B0604020202020204" pitchFamily="34" charset="0"/>
                <a:cs typeface="Arial" panose="020B0604020202020204" pitchFamily="34" charset="0"/>
              </a:rPr>
              <a:t>learn.preprocessing</a:t>
            </a:r>
            <a:r>
              <a:rPr lang="en-IN" dirty="0">
                <a:latin typeface="Arial" panose="020B0604020202020204" pitchFamily="34" charset="0"/>
                <a:cs typeface="Arial" panose="020B0604020202020204" pitchFamily="34" charset="0"/>
              </a:rPr>
              <a:t>: For standardization, normalization, and encoding of features.</a:t>
            </a:r>
          </a:p>
          <a:p>
            <a:pPr marL="742950" lvl="1" indent="-285750">
              <a:buClr>
                <a:schemeClr val="accent1"/>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2. Machine Learning Algorithms</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scikit-learn</a:t>
            </a:r>
            <a:r>
              <a:rPr lang="en-IN" dirty="0">
                <a:latin typeface="Arial" panose="020B0604020202020204" pitchFamily="34" charset="0"/>
                <a:cs typeface="Arial" panose="020B0604020202020204" pitchFamily="34" charset="0"/>
              </a:rPr>
              <a:t>: For models like Logistic Regression, Support Vector Machines (SVM), Random Forest, Gradient Boosting, and Extremely Randomized Trees.</a:t>
            </a:r>
          </a:p>
          <a:p>
            <a:pPr marL="742950" lvl="1" indent="-285750">
              <a:buClr>
                <a:schemeClr val="accent1"/>
              </a:buClr>
              <a:buFont typeface="Arial" panose="020B0604020202020204" pitchFamily="34" charset="0"/>
              <a:buChar char="•"/>
            </a:pPr>
            <a:r>
              <a:rPr lang="en-IN" b="1" dirty="0" err="1">
                <a:latin typeface="Arial" panose="020B0604020202020204" pitchFamily="34" charset="0"/>
                <a:cs typeface="Arial" panose="020B0604020202020204" pitchFamily="34" charset="0"/>
              </a:rPr>
              <a:t>XGBoost</a:t>
            </a:r>
            <a:r>
              <a:rPr lang="en-IN" dirty="0">
                <a:latin typeface="Arial" panose="020B0604020202020204" pitchFamily="34" charset="0"/>
                <a:cs typeface="Arial" panose="020B0604020202020204" pitchFamily="34" charset="0"/>
              </a:rPr>
              <a:t>: For </a:t>
            </a:r>
            <a:r>
              <a:rPr lang="en-IN" dirty="0" err="1">
                <a:latin typeface="Arial" panose="020B0604020202020204" pitchFamily="34" charset="0"/>
                <a:cs typeface="Arial" panose="020B0604020202020204" pitchFamily="34" charset="0"/>
              </a:rPr>
              <a:t>eXtreme</a:t>
            </a:r>
            <a:r>
              <a:rPr lang="en-IN" dirty="0">
                <a:latin typeface="Arial" panose="020B0604020202020204" pitchFamily="34" charset="0"/>
                <a:cs typeface="Arial" panose="020B0604020202020204" pitchFamily="34" charset="0"/>
              </a:rPr>
              <a:t> Gradient Boosting.</a:t>
            </a:r>
          </a:p>
          <a:p>
            <a:pPr marL="742950" lvl="1" indent="-285750">
              <a:buClr>
                <a:schemeClr val="accent1"/>
              </a:buClr>
              <a:buFont typeface="Arial" panose="020B0604020202020204" pitchFamily="34" charset="0"/>
              <a:buChar char="•"/>
            </a:pPr>
            <a:r>
              <a:rPr lang="en-IN" b="1" dirty="0" err="1">
                <a:latin typeface="Arial" panose="020B0604020202020204" pitchFamily="34" charset="0"/>
                <a:cs typeface="Arial" panose="020B0604020202020204" pitchFamily="34" charset="0"/>
              </a:rPr>
              <a:t>CatBoost</a:t>
            </a:r>
            <a:r>
              <a:rPr lang="en-IN" dirty="0">
                <a:latin typeface="Arial" panose="020B0604020202020204" pitchFamily="34" charset="0"/>
                <a:cs typeface="Arial" panose="020B0604020202020204" pitchFamily="34" charset="0"/>
              </a:rPr>
              <a:t>: For efficient handling of categorical data and boosting tasks.</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AdaBoost</a:t>
            </a:r>
            <a:r>
              <a:rPr lang="en-IN" dirty="0">
                <a:latin typeface="Arial" panose="020B0604020202020204" pitchFamily="34" charset="0"/>
                <a:cs typeface="Arial" panose="020B0604020202020204" pitchFamily="34" charset="0"/>
              </a:rPr>
              <a:t>: For boosting weak learners.</a:t>
            </a:r>
          </a:p>
          <a:p>
            <a:pPr marL="742950" lvl="1" indent="-285750">
              <a:buClr>
                <a:schemeClr val="accent1"/>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3. Evaluation and Metrics</a:t>
            </a:r>
          </a:p>
          <a:p>
            <a:pPr marL="742950" lvl="1" indent="-285750">
              <a:buClr>
                <a:schemeClr val="accent1"/>
              </a:buClr>
              <a:buFont typeface="Arial" panose="020B0604020202020204" pitchFamily="34" charset="0"/>
              <a:buChar char="•"/>
            </a:pPr>
            <a:r>
              <a:rPr lang="en-IN" b="1" dirty="0">
                <a:latin typeface="Arial" panose="020B0604020202020204" pitchFamily="34" charset="0"/>
                <a:cs typeface="Arial" panose="020B0604020202020204" pitchFamily="34" charset="0"/>
              </a:rPr>
              <a:t>scikit-</a:t>
            </a:r>
            <a:r>
              <a:rPr lang="en-IN" b="1" dirty="0" err="1">
                <a:latin typeface="Arial" panose="020B0604020202020204" pitchFamily="34" charset="0"/>
                <a:cs typeface="Arial" panose="020B0604020202020204" pitchFamily="34" charset="0"/>
              </a:rPr>
              <a:t>learn.metrics</a:t>
            </a:r>
            <a:r>
              <a:rPr lang="en-IN" dirty="0">
                <a:latin typeface="Arial" panose="020B0604020202020204" pitchFamily="34" charset="0"/>
                <a:cs typeface="Arial" panose="020B0604020202020204" pitchFamily="34" charset="0"/>
              </a:rPr>
              <a:t>: For accuracy, precision, recall, F1 score, and confusion matrix calculations.</a:t>
            </a:r>
          </a:p>
          <a:p>
            <a:pPr marL="285750" indent="-285750">
              <a:buClr>
                <a:schemeClr val="accent1"/>
              </a:buClr>
              <a:buFont typeface="Arial" panose="020B0604020202020204" pitchFamily="34" charset="0"/>
              <a:buChar char="•"/>
            </a:pPr>
            <a:endParaRPr lang="en-IN" dirty="0"/>
          </a:p>
        </p:txBody>
      </p:sp>
    </p:spTree>
    <p:extLst>
      <p:ext uri="{BB962C8B-B14F-4D97-AF65-F5344CB8AC3E}">
        <p14:creationId xmlns:p14="http://schemas.microsoft.com/office/powerpoint/2010/main" val="12583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60660-B04D-BA28-6409-CBA85BB0EC0E}"/>
              </a:ext>
            </a:extLst>
          </p:cNvPr>
          <p:cNvSpPr>
            <a:spLocks noGrp="1"/>
          </p:cNvSpPr>
          <p:nvPr>
            <p:ph idx="1"/>
          </p:nvPr>
        </p:nvSpPr>
        <p:spPr>
          <a:xfrm>
            <a:off x="1086643" y="386786"/>
            <a:ext cx="10018713" cy="3124201"/>
          </a:xfrm>
        </p:spPr>
        <p:txBody>
          <a:bodyPr>
            <a:noAutofit/>
          </a:bodyPr>
          <a:lstStyle/>
          <a:p>
            <a:pPr marL="0" indent="0">
              <a:buNone/>
            </a:pPr>
            <a:r>
              <a:rPr lang="en-IN" sz="1800" b="1" dirty="0">
                <a:latin typeface="Arial" panose="020B0604020202020204" pitchFamily="34" charset="0"/>
                <a:cs typeface="Arial" panose="020B0604020202020204" pitchFamily="34" charset="0"/>
              </a:rPr>
              <a:t>4. Visualization</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Matplotlib</a:t>
            </a:r>
            <a:r>
              <a:rPr lang="en-IN" sz="1800" dirty="0">
                <a:latin typeface="Arial" panose="020B0604020202020204" pitchFamily="34" charset="0"/>
                <a:cs typeface="Arial" panose="020B0604020202020204" pitchFamily="34" charset="0"/>
              </a:rPr>
              <a:t>: For data and result visualization.</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Seaborn</a:t>
            </a:r>
            <a:r>
              <a:rPr lang="en-IN" sz="1800" dirty="0">
                <a:latin typeface="Arial" panose="020B0604020202020204" pitchFamily="34" charset="0"/>
                <a:cs typeface="Arial" panose="020B0604020202020204" pitchFamily="34" charset="0"/>
              </a:rPr>
              <a:t>: For advanced statistical plotting.</a:t>
            </a:r>
          </a:p>
          <a:p>
            <a:pPr marL="457200" lvl="1" indent="0">
              <a:buNone/>
            </a:pPr>
            <a:endParaRPr lang="en-IN" sz="1800" dirty="0">
              <a:latin typeface="Arial" panose="020B0604020202020204" pitchFamily="34" charset="0"/>
              <a:cs typeface="Arial" panose="020B0604020202020204" pitchFamily="34" charset="0"/>
            </a:endParaRPr>
          </a:p>
          <a:p>
            <a:r>
              <a:rPr lang="en-IN" sz="1800" b="1" dirty="0">
                <a:latin typeface="Arial" panose="020B0604020202020204" pitchFamily="34" charset="0"/>
                <a:cs typeface="Arial" panose="020B0604020202020204" pitchFamily="34" charset="0"/>
              </a:rPr>
              <a:t>5. Data Splitting and Validation</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scikit-</a:t>
            </a:r>
            <a:r>
              <a:rPr lang="en-IN" sz="1800" b="1" dirty="0" err="1">
                <a:latin typeface="Arial" panose="020B0604020202020204" pitchFamily="34" charset="0"/>
                <a:cs typeface="Arial" panose="020B0604020202020204" pitchFamily="34" charset="0"/>
              </a:rPr>
              <a:t>learn.model_selection</a:t>
            </a:r>
            <a:r>
              <a:rPr lang="en-IN" sz="1800" dirty="0">
                <a:latin typeface="Arial" panose="020B0604020202020204" pitchFamily="34" charset="0"/>
                <a:cs typeface="Arial" panose="020B0604020202020204" pitchFamily="34" charset="0"/>
              </a:rPr>
              <a:t>: For train-test split, cross-validation, and hyperparameter tuning.</a:t>
            </a:r>
          </a:p>
          <a:p>
            <a:pPr marL="0" indent="0">
              <a:buNone/>
            </a:pPr>
            <a:endParaRPr lang="en-IN" sz="1800" dirty="0">
              <a:latin typeface="Arial" panose="020B0604020202020204" pitchFamily="34" charset="0"/>
              <a:cs typeface="Arial" panose="020B0604020202020204" pitchFamily="34" charset="0"/>
            </a:endParaRPr>
          </a:p>
          <a:p>
            <a:r>
              <a:rPr lang="en-IN" sz="1800" b="1" dirty="0">
                <a:latin typeface="Arial" panose="020B0604020202020204" pitchFamily="34" charset="0"/>
                <a:cs typeface="Arial" panose="020B0604020202020204" pitchFamily="34" charset="0"/>
              </a:rPr>
              <a:t>6. Data Cleaning and Handling Missing Data</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scikit-</a:t>
            </a:r>
            <a:r>
              <a:rPr lang="en-IN" sz="1800" b="1" dirty="0" err="1">
                <a:latin typeface="Arial" panose="020B0604020202020204" pitchFamily="34" charset="0"/>
                <a:cs typeface="Arial" panose="020B0604020202020204" pitchFamily="34" charset="0"/>
              </a:rPr>
              <a:t>learn.impute</a:t>
            </a:r>
            <a:r>
              <a:rPr lang="en-IN" sz="1800" dirty="0">
                <a:latin typeface="Arial" panose="020B0604020202020204" pitchFamily="34" charset="0"/>
                <a:cs typeface="Arial" panose="020B0604020202020204" pitchFamily="34" charset="0"/>
              </a:rPr>
              <a:t>: For handling missing values.</a:t>
            </a:r>
          </a:p>
          <a:p>
            <a:pPr marL="0" indent="0">
              <a:buNone/>
            </a:pPr>
            <a:endParaRPr lang="en-IN" sz="1800" dirty="0">
              <a:latin typeface="Arial" panose="020B0604020202020204" pitchFamily="34" charset="0"/>
              <a:cs typeface="Arial" panose="020B0604020202020204" pitchFamily="34" charset="0"/>
            </a:endParaRPr>
          </a:p>
          <a:p>
            <a:r>
              <a:rPr lang="en-IN" sz="1800" b="1" dirty="0">
                <a:latin typeface="Arial" panose="020B0604020202020204" pitchFamily="34" charset="0"/>
                <a:cs typeface="Arial" panose="020B0604020202020204" pitchFamily="34" charset="0"/>
              </a:rPr>
              <a:t>7. Feature Engineering</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scikit-</a:t>
            </a:r>
            <a:r>
              <a:rPr lang="en-IN" sz="1800" b="1" dirty="0" err="1">
                <a:latin typeface="Arial" panose="020B0604020202020204" pitchFamily="34" charset="0"/>
                <a:cs typeface="Arial" panose="020B0604020202020204" pitchFamily="34" charset="0"/>
              </a:rPr>
              <a:t>learn.feature_selection</a:t>
            </a:r>
            <a:r>
              <a:rPr lang="en-IN" sz="1800" dirty="0">
                <a:latin typeface="Arial" panose="020B0604020202020204" pitchFamily="34" charset="0"/>
                <a:cs typeface="Arial" panose="020B0604020202020204" pitchFamily="34" charset="0"/>
              </a:rPr>
              <a:t>: For selecting important features.</a:t>
            </a:r>
          </a:p>
          <a:p>
            <a:pPr marL="0" indent="0">
              <a:buNone/>
            </a:pPr>
            <a:endParaRPr lang="en-IN" sz="1800" dirty="0">
              <a:latin typeface="Arial" panose="020B0604020202020204" pitchFamily="34" charset="0"/>
              <a:cs typeface="Arial" panose="020B0604020202020204" pitchFamily="34" charset="0"/>
            </a:endParaRPr>
          </a:p>
          <a:p>
            <a:r>
              <a:rPr lang="en-IN" sz="1800" b="1" dirty="0">
                <a:latin typeface="Arial" panose="020B0604020202020204" pitchFamily="34" charset="0"/>
                <a:cs typeface="Arial" panose="020B0604020202020204" pitchFamily="34" charset="0"/>
              </a:rPr>
              <a:t>8. Data Scaling</a:t>
            </a:r>
          </a:p>
          <a:p>
            <a:pPr lvl="1">
              <a:buFont typeface="Arial" panose="020B0604020202020204" pitchFamily="34" charset="0"/>
              <a:buChar char="•"/>
            </a:pPr>
            <a:r>
              <a:rPr lang="en-IN" sz="1800" b="1" dirty="0">
                <a:latin typeface="Arial" panose="020B0604020202020204" pitchFamily="34" charset="0"/>
                <a:cs typeface="Arial" panose="020B0604020202020204" pitchFamily="34" charset="0"/>
              </a:rPr>
              <a:t>scikit-</a:t>
            </a:r>
            <a:r>
              <a:rPr lang="en-IN" sz="1800" b="1" dirty="0" err="1">
                <a:latin typeface="Arial" panose="020B0604020202020204" pitchFamily="34" charset="0"/>
                <a:cs typeface="Arial" panose="020B0604020202020204" pitchFamily="34" charset="0"/>
              </a:rPr>
              <a:t>learn.preprocessing.StandardScaler</a:t>
            </a:r>
            <a:r>
              <a:rPr lang="en-IN" sz="1800" dirty="0">
                <a:latin typeface="Arial" panose="020B0604020202020204" pitchFamily="34" charset="0"/>
                <a:cs typeface="Arial" panose="020B0604020202020204" pitchFamily="34" charset="0"/>
              </a:rPr>
              <a:t>: For scaling data.</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961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17412-0720-21AA-8FF7-CAA62A4110EC}"/>
              </a:ext>
            </a:extLst>
          </p:cNvPr>
          <p:cNvSpPr>
            <a:spLocks noGrp="1"/>
          </p:cNvSpPr>
          <p:nvPr>
            <p:ph type="title"/>
          </p:nvPr>
        </p:nvSpPr>
        <p:spPr>
          <a:xfrm>
            <a:off x="608343" y="-407505"/>
            <a:ext cx="10018713" cy="1752599"/>
          </a:xfrm>
        </p:spPr>
        <p:txBody>
          <a:bodyPr/>
          <a:lstStyle/>
          <a:p>
            <a:r>
              <a:rPr lang="en-US" sz="4000" b="0" strike="noStrike" spc="-1" dirty="0">
                <a:solidFill>
                  <a:schemeClr val="accent1">
                    <a:lumMod val="75000"/>
                  </a:schemeClr>
                </a:solidFill>
                <a:latin typeface="EB Garamond SemiBold"/>
                <a:ea typeface="EB Garamond SemiBold"/>
              </a:rPr>
              <a:t>IMPLEMENTATION DETAILS</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48A85697-EAF4-9D91-E870-63CBF7E5D9F5}"/>
              </a:ext>
            </a:extLst>
          </p:cNvPr>
          <p:cNvSpPr>
            <a:spLocks noGrp="1"/>
          </p:cNvSpPr>
          <p:nvPr>
            <p:ph idx="1"/>
          </p:nvPr>
        </p:nvSpPr>
        <p:spPr>
          <a:xfrm>
            <a:off x="1441523" y="876299"/>
            <a:ext cx="10018713" cy="6690360"/>
          </a:xfrm>
        </p:spPr>
        <p:txBody>
          <a:bodyPr>
            <a:normAutofit/>
          </a:bodyPr>
          <a:lstStyle/>
          <a:p>
            <a:pPr marL="0" indent="0">
              <a:buNone/>
            </a:pPr>
            <a:r>
              <a:rPr lang="en-IN" sz="1800" b="1" dirty="0">
                <a:latin typeface="Arial" panose="020B0604020202020204" pitchFamily="34" charset="0"/>
                <a:cs typeface="Arial" panose="020B0604020202020204" pitchFamily="34" charset="0"/>
              </a:rPr>
              <a:t>DATA PREPROCESSING</a:t>
            </a:r>
          </a:p>
          <a:p>
            <a:pPr rtl="0">
              <a:spcBef>
                <a:spcPts val="1400"/>
              </a:spcBef>
              <a:spcAft>
                <a:spcPts val="400"/>
              </a:spcAft>
              <a:buFont typeface="Wingdings" panose="05000000000000000000" pitchFamily="2" charset="2"/>
              <a:buChar char="Ø"/>
            </a:pPr>
            <a:r>
              <a:rPr lang="en-US" sz="1800" b="0" i="0" u="none" strike="noStrike" dirty="0">
                <a:effectLst/>
                <a:latin typeface="Arial" panose="020B0604020202020204" pitchFamily="34" charset="0"/>
              </a:rPr>
              <a:t>CATEGORICAL TO NUMERICAL VALUES</a:t>
            </a:r>
            <a:endParaRPr lang="en-US" sz="1100" b="1" dirty="0">
              <a:effectLst/>
            </a:endParaRPr>
          </a:p>
          <a:p>
            <a:pPr lvl="1"/>
            <a:r>
              <a:rPr lang="en-US" sz="1800" b="0" i="0" u="none" strike="noStrike" dirty="0">
                <a:solidFill>
                  <a:srgbClr val="000000"/>
                </a:solidFill>
                <a:effectLst/>
                <a:latin typeface="Arial" panose="020B0604020202020204" pitchFamily="34" charset="0"/>
              </a:rPr>
              <a:t>The process involves converting categorical data in a dataset into numerical formats to facilitate analysis and machine learning. </a:t>
            </a:r>
          </a:p>
          <a:p>
            <a:pPr lvl="1"/>
            <a:r>
              <a:rPr lang="en-US" sz="1800" b="0" i="0" u="none" strike="noStrike" dirty="0">
                <a:solidFill>
                  <a:srgbClr val="000000"/>
                </a:solidFill>
                <a:effectLst/>
                <a:latin typeface="Arial" panose="020B0604020202020204" pitchFamily="34" charset="0"/>
              </a:rPr>
              <a:t>Initially, a ranking dictionary is created to assign numerical ranks to PTSD diagnostic measures based on their significance. </a:t>
            </a:r>
          </a:p>
          <a:p>
            <a:pPr lvl="1"/>
            <a:r>
              <a:rPr lang="en-US" sz="1800" b="0" i="0" u="none" strike="noStrike" dirty="0">
                <a:solidFill>
                  <a:srgbClr val="000000"/>
                </a:solidFill>
                <a:effectLst/>
                <a:latin typeface="Arial" panose="020B0604020202020204" pitchFamily="34" charset="0"/>
              </a:rPr>
              <a:t>This mapping is applied to the 'Diagnostic Measure' column and a few others. Following that, some other categorical columns are identified and encoded using the ‘</a:t>
            </a:r>
            <a:r>
              <a:rPr lang="en-US" sz="1800" b="0" i="0" u="none" strike="noStrike" dirty="0" err="1">
                <a:solidFill>
                  <a:srgbClr val="000000"/>
                </a:solidFill>
                <a:effectLst/>
                <a:latin typeface="Arial" panose="020B0604020202020204" pitchFamily="34" charset="0"/>
              </a:rPr>
              <a:t>LabelEncoder</a:t>
            </a:r>
            <a:r>
              <a:rPr lang="en-US" sz="1800" b="0" i="0" u="none" strike="noStrike" dirty="0">
                <a:solidFill>
                  <a:srgbClr val="000000"/>
                </a:solidFill>
                <a:effectLst/>
                <a:latin typeface="Arial" panose="020B0604020202020204" pitchFamily="34" charset="0"/>
              </a:rPr>
              <a:t>’ from scikit-learn, which transforms unique categories into integers.</a:t>
            </a:r>
            <a:endParaRPr lang="en-IN" sz="1800" b="1" dirty="0">
              <a:latin typeface="Arial" panose="020B0604020202020204" pitchFamily="34" charset="0"/>
              <a:cs typeface="Arial" panose="020B0604020202020204" pitchFamily="34" charset="0"/>
            </a:endParaRPr>
          </a:p>
          <a:p>
            <a:pPr rtl="0">
              <a:spcBef>
                <a:spcPts val="1400"/>
              </a:spcBef>
              <a:spcAft>
                <a:spcPts val="400"/>
              </a:spcAft>
              <a:buFont typeface="Wingdings" panose="05000000000000000000" pitchFamily="2" charset="2"/>
              <a:buChar char="Ø"/>
            </a:pPr>
            <a:r>
              <a:rPr lang="en-US" sz="1800" b="0" i="0" u="none" strike="noStrike" dirty="0">
                <a:effectLst/>
                <a:latin typeface="Arial" panose="020B0604020202020204" pitchFamily="34" charset="0"/>
              </a:rPr>
              <a:t>NORMALIZATION</a:t>
            </a:r>
            <a:endParaRPr lang="en-US" sz="1800" b="1" dirty="0">
              <a:effectLst/>
            </a:endParaRPr>
          </a:p>
          <a:p>
            <a:pPr lvl="1"/>
            <a:r>
              <a:rPr lang="en-US" sz="1800" dirty="0">
                <a:solidFill>
                  <a:srgbClr val="000000"/>
                </a:solidFill>
                <a:latin typeface="Arial" panose="020B0604020202020204" pitchFamily="34" charset="0"/>
              </a:rPr>
              <a:t>Normalization is a preprocessing technique used to scale numeric data to a standard range, typically between 0 and 1. </a:t>
            </a:r>
          </a:p>
          <a:p>
            <a:pPr lvl="1"/>
            <a:r>
              <a:rPr lang="en-US" sz="1800" dirty="0">
                <a:solidFill>
                  <a:srgbClr val="000000"/>
                </a:solidFill>
                <a:latin typeface="Arial" panose="020B0604020202020204" pitchFamily="34" charset="0"/>
              </a:rPr>
              <a:t>This ensures that all features contribute equally to the analysis or machine learning process, preventing any one feature from dominating due to its scale. </a:t>
            </a:r>
          </a:p>
          <a:p>
            <a:pPr lvl="1"/>
            <a:r>
              <a:rPr lang="en-US" sz="1800" dirty="0">
                <a:solidFill>
                  <a:srgbClr val="000000"/>
                </a:solidFill>
                <a:latin typeface="Arial" panose="020B0604020202020204" pitchFamily="34" charset="0"/>
              </a:rPr>
              <a:t>The process involves importing a dataset, identifying the numeric columns, and applying Min-Max normalization to adjust their values. </a:t>
            </a:r>
          </a:p>
          <a:p>
            <a:pPr lvl="1"/>
            <a:r>
              <a:rPr lang="en-US" sz="1800" dirty="0">
                <a:solidFill>
                  <a:srgbClr val="000000"/>
                </a:solidFill>
                <a:latin typeface="Arial" panose="020B0604020202020204" pitchFamily="34" charset="0"/>
              </a:rPr>
              <a:t>The normalized dataset is then saved to a new CSV file, ensuring that the numeric features are appropriately scaled for further analysis or modeling.</a:t>
            </a:r>
          </a:p>
          <a:p>
            <a:pPr marL="457200" lvl="1" indent="0">
              <a:buNone/>
            </a:pPr>
            <a:endParaRPr lang="en-US" sz="1800" dirty="0">
              <a:solidFill>
                <a:srgbClr val="000000"/>
              </a:solidFill>
              <a:latin typeface="Arial" panose="020B0604020202020204" pitchFamily="34" charset="0"/>
            </a:endParaRPr>
          </a:p>
          <a:p>
            <a:pPr marL="0" indent="0" rtl="0">
              <a:spcBef>
                <a:spcPts val="1400"/>
              </a:spcBef>
              <a:spcAft>
                <a:spcPts val="400"/>
              </a:spcAft>
              <a:buNone/>
            </a:pPr>
            <a:br>
              <a:rPr lang="en-US" sz="1400" dirty="0"/>
            </a:b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4807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49B39-0942-E2DC-F6E0-4CCD18962067}"/>
              </a:ext>
            </a:extLst>
          </p:cNvPr>
          <p:cNvSpPr>
            <a:spLocks noGrp="1"/>
          </p:cNvSpPr>
          <p:nvPr>
            <p:ph type="title"/>
          </p:nvPr>
        </p:nvSpPr>
        <p:spPr/>
        <p:txBody>
          <a:bodyPr/>
          <a:lstStyle/>
          <a:p>
            <a:pPr rtl="0">
              <a:spcBef>
                <a:spcPts val="1400"/>
              </a:spcBef>
              <a:spcAft>
                <a:spcPts val="400"/>
              </a:spcAft>
            </a:pPr>
            <a:br>
              <a:rPr lang="en-IN" b="1" dirty="0">
                <a:effectLst/>
              </a:rPr>
            </a:br>
            <a:endParaRPr lang="en-IN" dirty="0"/>
          </a:p>
        </p:txBody>
      </p:sp>
      <p:pic>
        <p:nvPicPr>
          <p:cNvPr id="13314" name="Picture 2">
            <a:extLst>
              <a:ext uri="{FF2B5EF4-FFF2-40B4-BE49-F238E27FC236}">
                <a16:creationId xmlns:a16="http://schemas.microsoft.com/office/drawing/2014/main" id="{07A01E68-6275-1762-6D55-926287103EF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6554"/>
          <a:stretch/>
        </p:blipFill>
        <p:spPr bwMode="auto">
          <a:xfrm>
            <a:off x="306656" y="685800"/>
            <a:ext cx="11578687" cy="60709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87D72F8-44CF-B62B-8A8F-640FF5EC4855}"/>
              </a:ext>
            </a:extLst>
          </p:cNvPr>
          <p:cNvSpPr txBox="1"/>
          <p:nvPr/>
        </p:nvSpPr>
        <p:spPr>
          <a:xfrm>
            <a:off x="1484311" y="169668"/>
            <a:ext cx="8218026" cy="369332"/>
          </a:xfrm>
          <a:prstGeom prst="rect">
            <a:avLst/>
          </a:prstGeom>
          <a:noFill/>
        </p:spPr>
        <p:txBody>
          <a:bodyPr wrap="square" rtlCol="0">
            <a:spAutoFit/>
          </a:bodyPr>
          <a:lstStyle/>
          <a:p>
            <a:r>
              <a:rPr lang="en-IN" sz="1800" b="0" i="0" u="none" strike="noStrike" dirty="0">
                <a:effectLst/>
                <a:latin typeface="Arial" panose="020B0604020202020204" pitchFamily="34" charset="0"/>
              </a:rPr>
              <a:t>FEATURE SELECTION :   CORRELATION MATRIX- HEATMAP</a:t>
            </a:r>
            <a:endParaRPr lang="en-IN" dirty="0"/>
          </a:p>
        </p:txBody>
      </p:sp>
    </p:spTree>
    <p:extLst>
      <p:ext uri="{BB962C8B-B14F-4D97-AF65-F5344CB8AC3E}">
        <p14:creationId xmlns:p14="http://schemas.microsoft.com/office/powerpoint/2010/main" val="3809644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D9049-0163-7F4F-50C1-F2A45B8AAD1D}"/>
              </a:ext>
            </a:extLst>
          </p:cNvPr>
          <p:cNvSpPr>
            <a:spLocks noGrp="1"/>
          </p:cNvSpPr>
          <p:nvPr>
            <p:ph type="title"/>
          </p:nvPr>
        </p:nvSpPr>
        <p:spPr>
          <a:xfrm>
            <a:off x="601791" y="386231"/>
            <a:ext cx="10018713" cy="1752599"/>
          </a:xfrm>
        </p:spPr>
        <p:txBody>
          <a:bodyPr/>
          <a:lstStyle/>
          <a:p>
            <a:r>
              <a:rPr lang="en-IN" dirty="0">
                <a:latin typeface="EB Garamond SemiBold" panose="00000700000000000000" pitchFamily="2" charset="0"/>
                <a:ea typeface="EB Garamond SemiBold" panose="00000700000000000000" pitchFamily="2" charset="0"/>
              </a:rPr>
              <a:t>DATASET DESCRIPTION</a:t>
            </a:r>
          </a:p>
        </p:txBody>
      </p:sp>
      <p:sp>
        <p:nvSpPr>
          <p:cNvPr id="3" name="Content Placeholder 2">
            <a:extLst>
              <a:ext uri="{FF2B5EF4-FFF2-40B4-BE49-F238E27FC236}">
                <a16:creationId xmlns:a16="http://schemas.microsoft.com/office/drawing/2014/main" id="{B37B4394-99C2-88B0-8D46-8B2FA4E02F01}"/>
              </a:ext>
            </a:extLst>
          </p:cNvPr>
          <p:cNvSpPr>
            <a:spLocks noGrp="1"/>
          </p:cNvSpPr>
          <p:nvPr>
            <p:ph idx="1"/>
          </p:nvPr>
        </p:nvSpPr>
        <p:spPr>
          <a:xfrm>
            <a:off x="1342896" y="1880413"/>
            <a:ext cx="10018713" cy="5197643"/>
          </a:xfrm>
        </p:spPr>
        <p:txBody>
          <a:bodyPr>
            <a:normAutofit/>
          </a:bodyPr>
          <a:lstStyle/>
          <a:p>
            <a:pPr rtl="0"/>
            <a:r>
              <a:rPr lang="en-US" sz="1800" b="0" i="0" u="none" strike="noStrike" dirty="0">
                <a:solidFill>
                  <a:srgbClr val="000000"/>
                </a:solidFill>
                <a:effectLst/>
                <a:latin typeface="Arial" panose="020B0604020202020204" pitchFamily="34" charset="0"/>
                <a:cs typeface="Arial" panose="020B0604020202020204" pitchFamily="34" charset="0"/>
              </a:rPr>
              <a:t>The US Veteran dataset comprises a diverse range of features relevant to PTSD studies and outcomes, focusing on clinical and diagnostic attributes. </a:t>
            </a:r>
          </a:p>
          <a:p>
            <a:pPr rtl="0"/>
            <a:r>
              <a:rPr lang="en-US" sz="1800" b="0" i="0" u="none" strike="noStrike" dirty="0">
                <a:solidFill>
                  <a:srgbClr val="000000"/>
                </a:solidFill>
                <a:effectLst/>
                <a:latin typeface="Arial" panose="020B0604020202020204" pitchFamily="34" charset="0"/>
                <a:cs typeface="Arial" panose="020B0604020202020204" pitchFamily="34" charset="0"/>
              </a:rPr>
              <a:t>It includes categorical variables such as study class, treatment focus, clinical setting, and trauma type, alongside quantitative measures like subgroup analysis and various outcome assessments (e.g., depression, anxiety, sleep, anger, functioning, substance use, and quality of life). </a:t>
            </a:r>
          </a:p>
          <a:p>
            <a:pPr rtl="0"/>
            <a:r>
              <a:rPr lang="en-US" sz="1800" b="0" i="0" u="none" strike="noStrike" dirty="0">
                <a:solidFill>
                  <a:srgbClr val="000000"/>
                </a:solidFill>
                <a:effectLst/>
                <a:latin typeface="Arial" panose="020B0604020202020204" pitchFamily="34" charset="0"/>
                <a:cs typeface="Arial" panose="020B0604020202020204" pitchFamily="34" charset="0"/>
              </a:rPr>
              <a:t>Other fields include diagnostic tools, risk of bias ratings, inclusion/exclusion criteria for suicidality and psychotic disorders, and PTSD severity levels. </a:t>
            </a:r>
          </a:p>
          <a:p>
            <a:pPr rtl="0"/>
            <a:r>
              <a:rPr lang="en-US" sz="1800" b="0" i="0" u="none" strike="noStrike" dirty="0">
                <a:solidFill>
                  <a:srgbClr val="000000"/>
                </a:solidFill>
                <a:effectLst/>
                <a:latin typeface="Arial" panose="020B0604020202020204" pitchFamily="34" charset="0"/>
                <a:cs typeface="Arial" panose="020B0604020202020204" pitchFamily="34" charset="0"/>
              </a:rPr>
              <a:t>These features enable comprehensive analysis of PTSD treatment efficacy and patient outcomes, facilitating machine learning models to predict PTSD severity and identify key influencing factors.</a:t>
            </a:r>
            <a:endParaRPr lang="en-US" sz="1800" b="0" dirty="0">
              <a:effectLst/>
              <a:latin typeface="Arial" panose="020B0604020202020204" pitchFamily="34" charset="0"/>
              <a:cs typeface="Arial" panose="020B0604020202020204" pitchFamily="34" charset="0"/>
            </a:endParaRPr>
          </a:p>
          <a:p>
            <a:pPr marL="0" indent="0">
              <a:buNone/>
            </a:pPr>
            <a:br>
              <a:rPr lang="en-US" b="0" dirty="0">
                <a:effectLst/>
              </a:rPr>
            </a:br>
            <a:endParaRPr lang="en-IN" dirty="0"/>
          </a:p>
        </p:txBody>
      </p:sp>
    </p:spTree>
    <p:extLst>
      <p:ext uri="{BB962C8B-B14F-4D97-AF65-F5344CB8AC3E}">
        <p14:creationId xmlns:p14="http://schemas.microsoft.com/office/powerpoint/2010/main" val="3158719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ontent Placeholder 19">
            <a:extLst>
              <a:ext uri="{FF2B5EF4-FFF2-40B4-BE49-F238E27FC236}">
                <a16:creationId xmlns:a16="http://schemas.microsoft.com/office/drawing/2014/main" id="{F1C13911-D2F0-BBC0-4E8D-94F71810FEEA}"/>
              </a:ext>
            </a:extLst>
          </p:cNvPr>
          <p:cNvGraphicFramePr>
            <a:graphicFrameLocks noGrp="1"/>
          </p:cNvGraphicFramePr>
          <p:nvPr>
            <p:ph idx="1"/>
            <p:extLst>
              <p:ext uri="{D42A27DB-BD31-4B8C-83A1-F6EECF244321}">
                <p14:modId xmlns:p14="http://schemas.microsoft.com/office/powerpoint/2010/main" val="1919258857"/>
              </p:ext>
            </p:extLst>
          </p:nvPr>
        </p:nvGraphicFramePr>
        <p:xfrm>
          <a:off x="503238" y="1171575"/>
          <a:ext cx="10515600" cy="457200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1163801534"/>
                    </a:ext>
                  </a:extLst>
                </a:gridCol>
                <a:gridCol w="5257800">
                  <a:extLst>
                    <a:ext uri="{9D8B030D-6E8A-4147-A177-3AD203B41FA5}">
                      <a16:colId xmlns:a16="http://schemas.microsoft.com/office/drawing/2014/main" val="504622755"/>
                    </a:ext>
                  </a:extLst>
                </a:gridCol>
              </a:tblGrid>
              <a:tr h="0">
                <a:tc>
                  <a:txBody>
                    <a:bodyPr/>
                    <a:lstStyle/>
                    <a:p>
                      <a:r>
                        <a:rPr lang="en-IN" b="1"/>
                        <a:t>Column Name</a:t>
                      </a:r>
                      <a:endParaRPr lang="en-IN"/>
                    </a:p>
                  </a:txBody>
                  <a:tcPr anchor="ctr"/>
                </a:tc>
                <a:tc>
                  <a:txBody>
                    <a:bodyPr/>
                    <a:lstStyle/>
                    <a:p>
                      <a:r>
                        <a:rPr lang="en-IN" b="1"/>
                        <a:t>Description</a:t>
                      </a:r>
                      <a:endParaRPr lang="en-IN"/>
                    </a:p>
                  </a:txBody>
                  <a:tcPr anchor="ctr"/>
                </a:tc>
                <a:extLst>
                  <a:ext uri="{0D108BD9-81ED-4DB2-BD59-A6C34878D82A}">
                    <a16:rowId xmlns:a16="http://schemas.microsoft.com/office/drawing/2014/main" val="105345422"/>
                  </a:ext>
                </a:extLst>
              </a:tr>
              <a:tr h="0">
                <a:tc>
                  <a:txBody>
                    <a:bodyPr/>
                    <a:lstStyle/>
                    <a:p>
                      <a:r>
                        <a:rPr lang="en-IN" b="1"/>
                        <a:t>Study Class</a:t>
                      </a:r>
                      <a:endParaRPr lang="en-IN"/>
                    </a:p>
                  </a:txBody>
                  <a:tcPr anchor="ctr"/>
                </a:tc>
                <a:tc>
                  <a:txBody>
                    <a:bodyPr/>
                    <a:lstStyle/>
                    <a:p>
                      <a:r>
                        <a:rPr lang="en-US"/>
                        <a:t>Type of intervention (e.g., psychotherapy, pharmacotherapy) used for PTSD treatment.</a:t>
                      </a:r>
                    </a:p>
                  </a:txBody>
                  <a:tcPr anchor="ctr"/>
                </a:tc>
                <a:extLst>
                  <a:ext uri="{0D108BD9-81ED-4DB2-BD59-A6C34878D82A}">
                    <a16:rowId xmlns:a16="http://schemas.microsoft.com/office/drawing/2014/main" val="174234001"/>
                  </a:ext>
                </a:extLst>
              </a:tr>
              <a:tr h="0">
                <a:tc>
                  <a:txBody>
                    <a:bodyPr/>
                    <a:lstStyle/>
                    <a:p>
                      <a:r>
                        <a:rPr lang="en-IN" b="1"/>
                        <a:t>Treatment Focus (Study Level)</a:t>
                      </a:r>
                      <a:endParaRPr lang="en-IN"/>
                    </a:p>
                  </a:txBody>
                  <a:tcPr anchor="ctr"/>
                </a:tc>
                <a:tc>
                  <a:txBody>
                    <a:bodyPr/>
                    <a:lstStyle/>
                    <a:p>
                      <a:r>
                        <a:rPr lang="en-US"/>
                        <a:t>Focus of the treatment (e.g., PTSD alone or with co-occurring conditions like SUD).</a:t>
                      </a:r>
                    </a:p>
                  </a:txBody>
                  <a:tcPr anchor="ctr"/>
                </a:tc>
                <a:extLst>
                  <a:ext uri="{0D108BD9-81ED-4DB2-BD59-A6C34878D82A}">
                    <a16:rowId xmlns:a16="http://schemas.microsoft.com/office/drawing/2014/main" val="1208467713"/>
                  </a:ext>
                </a:extLst>
              </a:tr>
              <a:tr h="0">
                <a:tc>
                  <a:txBody>
                    <a:bodyPr/>
                    <a:lstStyle/>
                    <a:p>
                      <a:r>
                        <a:rPr lang="en-IN" b="1" dirty="0"/>
                        <a:t>Clinical Setting</a:t>
                      </a:r>
                      <a:endParaRPr lang="en-IN" dirty="0"/>
                    </a:p>
                  </a:txBody>
                  <a:tcPr anchor="ctr"/>
                </a:tc>
                <a:tc>
                  <a:txBody>
                    <a:bodyPr/>
                    <a:lstStyle/>
                    <a:p>
                      <a:r>
                        <a:rPr lang="en-US"/>
                        <a:t>Environment where PTSD treatment was given (e.g., outpatient, inpatient).</a:t>
                      </a:r>
                    </a:p>
                  </a:txBody>
                  <a:tcPr anchor="ctr"/>
                </a:tc>
                <a:extLst>
                  <a:ext uri="{0D108BD9-81ED-4DB2-BD59-A6C34878D82A}">
                    <a16:rowId xmlns:a16="http://schemas.microsoft.com/office/drawing/2014/main" val="161382838"/>
                  </a:ext>
                </a:extLst>
              </a:tr>
              <a:tr h="0">
                <a:tc>
                  <a:txBody>
                    <a:bodyPr/>
                    <a:lstStyle/>
                    <a:p>
                      <a:r>
                        <a:rPr lang="en-IN" b="1"/>
                        <a:t>Study Design</a:t>
                      </a:r>
                      <a:endParaRPr lang="en-IN"/>
                    </a:p>
                  </a:txBody>
                  <a:tcPr anchor="ctr"/>
                </a:tc>
                <a:tc>
                  <a:txBody>
                    <a:bodyPr/>
                    <a:lstStyle/>
                    <a:p>
                      <a:r>
                        <a:rPr lang="en-US"/>
                        <a:t>Type of study design (e.g., RCT, cohort study).</a:t>
                      </a:r>
                    </a:p>
                  </a:txBody>
                  <a:tcPr anchor="ctr"/>
                </a:tc>
                <a:extLst>
                  <a:ext uri="{0D108BD9-81ED-4DB2-BD59-A6C34878D82A}">
                    <a16:rowId xmlns:a16="http://schemas.microsoft.com/office/drawing/2014/main" val="460602697"/>
                  </a:ext>
                </a:extLst>
              </a:tr>
              <a:tr h="0">
                <a:tc>
                  <a:txBody>
                    <a:bodyPr/>
                    <a:lstStyle/>
                    <a:p>
                      <a:r>
                        <a:rPr lang="en-IN" b="1" dirty="0"/>
                        <a:t>Subscale/Symptom Cluster Data</a:t>
                      </a:r>
                      <a:endParaRPr lang="en-IN" dirty="0"/>
                    </a:p>
                  </a:txBody>
                  <a:tcPr anchor="ctr"/>
                </a:tc>
                <a:tc>
                  <a:txBody>
                    <a:bodyPr/>
                    <a:lstStyle/>
                    <a:p>
                      <a:r>
                        <a:rPr lang="en-US"/>
                        <a:t>Data on specific PTSD symptom clusters (e.g., intrusion, avoidance).</a:t>
                      </a:r>
                    </a:p>
                  </a:txBody>
                  <a:tcPr anchor="ctr"/>
                </a:tc>
                <a:extLst>
                  <a:ext uri="{0D108BD9-81ED-4DB2-BD59-A6C34878D82A}">
                    <a16:rowId xmlns:a16="http://schemas.microsoft.com/office/drawing/2014/main" val="3737394478"/>
                  </a:ext>
                </a:extLst>
              </a:tr>
              <a:tr h="0">
                <a:tc>
                  <a:txBody>
                    <a:bodyPr/>
                    <a:lstStyle/>
                    <a:p>
                      <a:r>
                        <a:rPr lang="en-IN" b="1"/>
                        <a:t>Subgroup Analysis</a:t>
                      </a:r>
                      <a:endParaRPr lang="en-IN"/>
                    </a:p>
                  </a:txBody>
                  <a:tcPr anchor="ctr"/>
                </a:tc>
                <a:tc>
                  <a:txBody>
                    <a:bodyPr/>
                    <a:lstStyle/>
                    <a:p>
                      <a:r>
                        <a:rPr lang="en-US"/>
                        <a:t>Whether the study included subgroup analyses (e.g., by age, gender).</a:t>
                      </a:r>
                    </a:p>
                  </a:txBody>
                  <a:tcPr anchor="ctr"/>
                </a:tc>
                <a:extLst>
                  <a:ext uri="{0D108BD9-81ED-4DB2-BD59-A6C34878D82A}">
                    <a16:rowId xmlns:a16="http://schemas.microsoft.com/office/drawing/2014/main" val="1322562591"/>
                  </a:ext>
                </a:extLst>
              </a:tr>
              <a:tr h="0">
                <a:tc>
                  <a:txBody>
                    <a:bodyPr/>
                    <a:lstStyle/>
                    <a:p>
                      <a:r>
                        <a:rPr lang="en-IN" b="1"/>
                        <a:t>Allowed PTSD Psychotherapy Co-Intervention</a:t>
                      </a:r>
                      <a:endParaRPr lang="en-IN"/>
                    </a:p>
                  </a:txBody>
                  <a:tcPr anchor="ctr"/>
                </a:tc>
                <a:tc>
                  <a:txBody>
                    <a:bodyPr/>
                    <a:lstStyle/>
                    <a:p>
                      <a:r>
                        <a:rPr lang="en-US" dirty="0"/>
                        <a:t>Whether other PTSD psychotherapies were allowed alongside the main treatment.</a:t>
                      </a:r>
                    </a:p>
                  </a:txBody>
                  <a:tcPr anchor="ctr"/>
                </a:tc>
                <a:extLst>
                  <a:ext uri="{0D108BD9-81ED-4DB2-BD59-A6C34878D82A}">
                    <a16:rowId xmlns:a16="http://schemas.microsoft.com/office/drawing/2014/main" val="1912571021"/>
                  </a:ext>
                </a:extLst>
              </a:tr>
            </a:tbl>
          </a:graphicData>
        </a:graphic>
      </p:graphicFrame>
    </p:spTree>
    <p:extLst>
      <p:ext uri="{BB962C8B-B14F-4D97-AF65-F5344CB8AC3E}">
        <p14:creationId xmlns:p14="http://schemas.microsoft.com/office/powerpoint/2010/main" val="3782207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Content Placeholder 48">
            <a:extLst>
              <a:ext uri="{FF2B5EF4-FFF2-40B4-BE49-F238E27FC236}">
                <a16:creationId xmlns:a16="http://schemas.microsoft.com/office/drawing/2014/main" id="{CD9648B6-9F02-DA3D-CE5B-0E15A6DB89FD}"/>
              </a:ext>
            </a:extLst>
          </p:cNvPr>
          <p:cNvGraphicFramePr>
            <a:graphicFrameLocks noGrp="1"/>
          </p:cNvGraphicFramePr>
          <p:nvPr>
            <p:ph idx="1"/>
            <p:extLst>
              <p:ext uri="{D42A27DB-BD31-4B8C-83A1-F6EECF244321}">
                <p14:modId xmlns:p14="http://schemas.microsoft.com/office/powerpoint/2010/main" val="473148585"/>
              </p:ext>
            </p:extLst>
          </p:nvPr>
        </p:nvGraphicFramePr>
        <p:xfrm>
          <a:off x="838200" y="899160"/>
          <a:ext cx="10515600" cy="5059680"/>
        </p:xfrm>
        <a:graphic>
          <a:graphicData uri="http://schemas.openxmlformats.org/drawingml/2006/table">
            <a:tbl>
              <a:tblPr>
                <a:tableStyleId>{BC89EF96-8CEA-46FF-86C4-4CE0E7609802}</a:tableStyleId>
              </a:tblPr>
              <a:tblGrid>
                <a:gridCol w="5257800">
                  <a:extLst>
                    <a:ext uri="{9D8B030D-6E8A-4147-A177-3AD203B41FA5}">
                      <a16:colId xmlns:a16="http://schemas.microsoft.com/office/drawing/2014/main" val="1380909439"/>
                    </a:ext>
                  </a:extLst>
                </a:gridCol>
                <a:gridCol w="5257800">
                  <a:extLst>
                    <a:ext uri="{9D8B030D-6E8A-4147-A177-3AD203B41FA5}">
                      <a16:colId xmlns:a16="http://schemas.microsoft.com/office/drawing/2014/main" val="1902002829"/>
                    </a:ext>
                  </a:extLst>
                </a:gridCol>
              </a:tblGrid>
              <a:tr h="0">
                <a:tc>
                  <a:txBody>
                    <a:bodyPr/>
                    <a:lstStyle/>
                    <a:p>
                      <a:r>
                        <a:rPr lang="en-IN" sz="1700" b="1"/>
                        <a:t>Column Name</a:t>
                      </a:r>
                      <a:endParaRPr lang="en-IN" sz="1700"/>
                    </a:p>
                  </a:txBody>
                  <a:tcPr anchor="ctr"/>
                </a:tc>
                <a:tc>
                  <a:txBody>
                    <a:bodyPr/>
                    <a:lstStyle/>
                    <a:p>
                      <a:r>
                        <a:rPr lang="en-IN" sz="1700" b="1"/>
                        <a:t>Description</a:t>
                      </a:r>
                      <a:endParaRPr lang="en-IN" sz="1700"/>
                    </a:p>
                  </a:txBody>
                  <a:tcPr anchor="ctr"/>
                </a:tc>
                <a:extLst>
                  <a:ext uri="{0D108BD9-81ED-4DB2-BD59-A6C34878D82A}">
                    <a16:rowId xmlns:a16="http://schemas.microsoft.com/office/drawing/2014/main" val="2013208573"/>
                  </a:ext>
                </a:extLst>
              </a:tr>
              <a:tr h="0">
                <a:tc>
                  <a:txBody>
                    <a:bodyPr/>
                    <a:lstStyle/>
                    <a:p>
                      <a:r>
                        <a:rPr lang="en-IN" sz="1700" b="1"/>
                        <a:t>Allowed Other Psychotherapy Co-Intervention</a:t>
                      </a:r>
                      <a:endParaRPr lang="en-IN" sz="1700"/>
                    </a:p>
                  </a:txBody>
                  <a:tcPr anchor="ctr"/>
                </a:tc>
                <a:tc>
                  <a:txBody>
                    <a:bodyPr/>
                    <a:lstStyle/>
                    <a:p>
                      <a:r>
                        <a:rPr lang="en-US" sz="1700"/>
                        <a:t>Whether non-PTSD psychotherapies were allowed during the study.</a:t>
                      </a:r>
                    </a:p>
                  </a:txBody>
                  <a:tcPr anchor="ctr"/>
                </a:tc>
                <a:extLst>
                  <a:ext uri="{0D108BD9-81ED-4DB2-BD59-A6C34878D82A}">
                    <a16:rowId xmlns:a16="http://schemas.microsoft.com/office/drawing/2014/main" val="4121400855"/>
                  </a:ext>
                </a:extLst>
              </a:tr>
              <a:tr h="0">
                <a:tc>
                  <a:txBody>
                    <a:bodyPr/>
                    <a:lstStyle/>
                    <a:p>
                      <a:r>
                        <a:rPr lang="en-IN" sz="1700" b="1"/>
                        <a:t>Allowed Psychotropic Med Co-Intervention</a:t>
                      </a:r>
                      <a:endParaRPr lang="en-IN" sz="1700"/>
                    </a:p>
                  </a:txBody>
                  <a:tcPr anchor="ctr"/>
                </a:tc>
                <a:tc>
                  <a:txBody>
                    <a:bodyPr/>
                    <a:lstStyle/>
                    <a:p>
                      <a:r>
                        <a:rPr lang="en-US" sz="1700"/>
                        <a:t>Whether psychotropic medications were allowed as co-interventions.</a:t>
                      </a:r>
                    </a:p>
                  </a:txBody>
                  <a:tcPr anchor="ctr"/>
                </a:tc>
                <a:extLst>
                  <a:ext uri="{0D108BD9-81ED-4DB2-BD59-A6C34878D82A}">
                    <a16:rowId xmlns:a16="http://schemas.microsoft.com/office/drawing/2014/main" val="3122414864"/>
                  </a:ext>
                </a:extLst>
              </a:tr>
              <a:tr h="0">
                <a:tc>
                  <a:txBody>
                    <a:bodyPr/>
                    <a:lstStyle/>
                    <a:p>
                      <a:r>
                        <a:rPr lang="en-IN" sz="1700" b="1"/>
                        <a:t>Diagnosis Assessment Type</a:t>
                      </a:r>
                      <a:endParaRPr lang="en-IN" sz="1700"/>
                    </a:p>
                  </a:txBody>
                  <a:tcPr anchor="ctr"/>
                </a:tc>
                <a:tc>
                  <a:txBody>
                    <a:bodyPr/>
                    <a:lstStyle/>
                    <a:p>
                      <a:r>
                        <a:rPr lang="en-US" sz="1700"/>
                        <a:t>Type of diagnostic assessment used (e.g., interviews, questionnaires).</a:t>
                      </a:r>
                    </a:p>
                  </a:txBody>
                  <a:tcPr anchor="ctr"/>
                </a:tc>
                <a:extLst>
                  <a:ext uri="{0D108BD9-81ED-4DB2-BD59-A6C34878D82A}">
                    <a16:rowId xmlns:a16="http://schemas.microsoft.com/office/drawing/2014/main" val="1479772511"/>
                  </a:ext>
                </a:extLst>
              </a:tr>
              <a:tr h="0">
                <a:tc>
                  <a:txBody>
                    <a:bodyPr/>
                    <a:lstStyle/>
                    <a:p>
                      <a:r>
                        <a:rPr lang="en-IN" sz="1700" b="1"/>
                        <a:t>Diagnostic Measure</a:t>
                      </a:r>
                      <a:endParaRPr lang="en-IN" sz="1700"/>
                    </a:p>
                  </a:txBody>
                  <a:tcPr anchor="ctr"/>
                </a:tc>
                <a:tc>
                  <a:txBody>
                    <a:bodyPr/>
                    <a:lstStyle/>
                    <a:p>
                      <a:r>
                        <a:rPr lang="en-US" sz="1700"/>
                        <a:t>Specific diagnostic tool used to assess PTSD (e.g., CAPS, SCID).</a:t>
                      </a:r>
                    </a:p>
                  </a:txBody>
                  <a:tcPr anchor="ctr"/>
                </a:tc>
                <a:extLst>
                  <a:ext uri="{0D108BD9-81ED-4DB2-BD59-A6C34878D82A}">
                    <a16:rowId xmlns:a16="http://schemas.microsoft.com/office/drawing/2014/main" val="3704109132"/>
                  </a:ext>
                </a:extLst>
              </a:tr>
              <a:tr h="0">
                <a:tc>
                  <a:txBody>
                    <a:bodyPr/>
                    <a:lstStyle/>
                    <a:p>
                      <a:r>
                        <a:rPr lang="en-IN" sz="1700" b="1" dirty="0"/>
                        <a:t>Diagnostic Measure Detail</a:t>
                      </a:r>
                      <a:endParaRPr lang="en-IN" sz="1700" dirty="0"/>
                    </a:p>
                  </a:txBody>
                  <a:tcPr anchor="ctr"/>
                </a:tc>
                <a:tc>
                  <a:txBody>
                    <a:bodyPr/>
                    <a:lstStyle/>
                    <a:p>
                      <a:r>
                        <a:rPr lang="en-US" sz="1700"/>
                        <a:t>Details about the diagnostic tool used (e.g., version, criteria).</a:t>
                      </a:r>
                    </a:p>
                  </a:txBody>
                  <a:tcPr anchor="ctr"/>
                </a:tc>
                <a:extLst>
                  <a:ext uri="{0D108BD9-81ED-4DB2-BD59-A6C34878D82A}">
                    <a16:rowId xmlns:a16="http://schemas.microsoft.com/office/drawing/2014/main" val="2701937338"/>
                  </a:ext>
                </a:extLst>
              </a:tr>
              <a:tr h="0">
                <a:tc>
                  <a:txBody>
                    <a:bodyPr/>
                    <a:lstStyle/>
                    <a:p>
                      <a:r>
                        <a:rPr lang="en-IN" sz="1700" b="1"/>
                        <a:t>Depression Outcome Assessed</a:t>
                      </a:r>
                      <a:endParaRPr lang="en-IN" sz="1700"/>
                    </a:p>
                  </a:txBody>
                  <a:tcPr anchor="ctr"/>
                </a:tc>
                <a:tc>
                  <a:txBody>
                    <a:bodyPr/>
                    <a:lstStyle/>
                    <a:p>
                      <a:r>
                        <a:rPr lang="en-US" sz="1700"/>
                        <a:t>Whether depression outcomes were measured in the study.</a:t>
                      </a:r>
                    </a:p>
                  </a:txBody>
                  <a:tcPr anchor="ctr"/>
                </a:tc>
                <a:extLst>
                  <a:ext uri="{0D108BD9-81ED-4DB2-BD59-A6C34878D82A}">
                    <a16:rowId xmlns:a16="http://schemas.microsoft.com/office/drawing/2014/main" val="3033541945"/>
                  </a:ext>
                </a:extLst>
              </a:tr>
              <a:tr h="0">
                <a:tc>
                  <a:txBody>
                    <a:bodyPr/>
                    <a:lstStyle/>
                    <a:p>
                      <a:r>
                        <a:rPr lang="en-IN" sz="1700" b="1"/>
                        <a:t>Anxiety Outcome Assessed</a:t>
                      </a:r>
                      <a:endParaRPr lang="en-IN" sz="1700"/>
                    </a:p>
                  </a:txBody>
                  <a:tcPr anchor="ctr"/>
                </a:tc>
                <a:tc>
                  <a:txBody>
                    <a:bodyPr/>
                    <a:lstStyle/>
                    <a:p>
                      <a:r>
                        <a:rPr lang="en-US" sz="1700"/>
                        <a:t>Whether anxiety outcomes were measured in the study.</a:t>
                      </a:r>
                    </a:p>
                  </a:txBody>
                  <a:tcPr anchor="ctr"/>
                </a:tc>
                <a:extLst>
                  <a:ext uri="{0D108BD9-81ED-4DB2-BD59-A6C34878D82A}">
                    <a16:rowId xmlns:a16="http://schemas.microsoft.com/office/drawing/2014/main" val="2422280813"/>
                  </a:ext>
                </a:extLst>
              </a:tr>
              <a:tr h="0">
                <a:tc>
                  <a:txBody>
                    <a:bodyPr/>
                    <a:lstStyle/>
                    <a:p>
                      <a:r>
                        <a:rPr lang="en-IN" sz="1700" b="1"/>
                        <a:t>Sleep Outcome Assessed</a:t>
                      </a:r>
                      <a:endParaRPr lang="en-IN" sz="1700"/>
                    </a:p>
                  </a:txBody>
                  <a:tcPr anchor="ctr"/>
                </a:tc>
                <a:tc>
                  <a:txBody>
                    <a:bodyPr/>
                    <a:lstStyle/>
                    <a:p>
                      <a:r>
                        <a:rPr lang="en-US" sz="1700"/>
                        <a:t>Whether sleep disturbances were assessed in the study.</a:t>
                      </a:r>
                    </a:p>
                  </a:txBody>
                  <a:tcPr anchor="ctr"/>
                </a:tc>
                <a:extLst>
                  <a:ext uri="{0D108BD9-81ED-4DB2-BD59-A6C34878D82A}">
                    <a16:rowId xmlns:a16="http://schemas.microsoft.com/office/drawing/2014/main" val="3624659548"/>
                  </a:ext>
                </a:extLst>
              </a:tr>
              <a:tr h="0">
                <a:tc>
                  <a:txBody>
                    <a:bodyPr/>
                    <a:lstStyle/>
                    <a:p>
                      <a:r>
                        <a:rPr lang="en-IN" sz="1700" b="1"/>
                        <a:t>Anger Outcome Assessed</a:t>
                      </a:r>
                      <a:endParaRPr lang="en-IN" sz="1700"/>
                    </a:p>
                  </a:txBody>
                  <a:tcPr anchor="ctr"/>
                </a:tc>
                <a:tc>
                  <a:txBody>
                    <a:bodyPr/>
                    <a:lstStyle/>
                    <a:p>
                      <a:r>
                        <a:rPr lang="en-US" sz="1700" dirty="0"/>
                        <a:t>Whether anger was assessed as an outcome in the study.</a:t>
                      </a:r>
                    </a:p>
                  </a:txBody>
                  <a:tcPr anchor="ctr"/>
                </a:tc>
                <a:extLst>
                  <a:ext uri="{0D108BD9-81ED-4DB2-BD59-A6C34878D82A}">
                    <a16:rowId xmlns:a16="http://schemas.microsoft.com/office/drawing/2014/main" val="1835160729"/>
                  </a:ext>
                </a:extLst>
              </a:tr>
            </a:tbl>
          </a:graphicData>
        </a:graphic>
      </p:graphicFrame>
    </p:spTree>
    <p:extLst>
      <p:ext uri="{BB962C8B-B14F-4D97-AF65-F5344CB8AC3E}">
        <p14:creationId xmlns:p14="http://schemas.microsoft.com/office/powerpoint/2010/main" val="240347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9CE462A-B572-131A-48CF-ABE07C1D557F}"/>
              </a:ext>
            </a:extLst>
          </p:cNvPr>
          <p:cNvGraphicFramePr>
            <a:graphicFrameLocks noGrp="1"/>
          </p:cNvGraphicFramePr>
          <p:nvPr>
            <p:ph idx="1"/>
            <p:extLst>
              <p:ext uri="{D42A27DB-BD31-4B8C-83A1-F6EECF244321}">
                <p14:modId xmlns:p14="http://schemas.microsoft.com/office/powerpoint/2010/main" val="699532627"/>
              </p:ext>
            </p:extLst>
          </p:nvPr>
        </p:nvGraphicFramePr>
        <p:xfrm>
          <a:off x="248786" y="413266"/>
          <a:ext cx="10795833" cy="6253359"/>
        </p:xfrm>
        <a:graphic>
          <a:graphicData uri="http://schemas.openxmlformats.org/drawingml/2006/table">
            <a:tbl>
              <a:tblPr>
                <a:tableStyleId>{BC89EF96-8CEA-46FF-86C4-4CE0E7609802}</a:tableStyleId>
              </a:tblPr>
              <a:tblGrid>
                <a:gridCol w="6178786">
                  <a:extLst>
                    <a:ext uri="{9D8B030D-6E8A-4147-A177-3AD203B41FA5}">
                      <a16:colId xmlns:a16="http://schemas.microsoft.com/office/drawing/2014/main" val="654918745"/>
                    </a:ext>
                  </a:extLst>
                </a:gridCol>
                <a:gridCol w="4617047">
                  <a:extLst>
                    <a:ext uri="{9D8B030D-6E8A-4147-A177-3AD203B41FA5}">
                      <a16:colId xmlns:a16="http://schemas.microsoft.com/office/drawing/2014/main" val="925680694"/>
                    </a:ext>
                  </a:extLst>
                </a:gridCol>
              </a:tblGrid>
              <a:tr h="316626">
                <a:tc>
                  <a:txBody>
                    <a:bodyPr/>
                    <a:lstStyle/>
                    <a:p>
                      <a:r>
                        <a:rPr lang="en-IN" sz="1500" b="1"/>
                        <a:t>Column Name</a:t>
                      </a:r>
                      <a:endParaRPr lang="en-IN" sz="1500"/>
                    </a:p>
                  </a:txBody>
                  <a:tcPr marL="78169" marR="78169" marT="39085" marB="39085" anchor="ctr"/>
                </a:tc>
                <a:tc>
                  <a:txBody>
                    <a:bodyPr/>
                    <a:lstStyle/>
                    <a:p>
                      <a:r>
                        <a:rPr lang="en-IN" sz="1500" b="1"/>
                        <a:t>Description</a:t>
                      </a:r>
                      <a:endParaRPr lang="en-IN" sz="1500"/>
                    </a:p>
                  </a:txBody>
                  <a:tcPr marL="78169" marR="78169" marT="39085" marB="39085" anchor="ctr"/>
                </a:tc>
                <a:extLst>
                  <a:ext uri="{0D108BD9-81ED-4DB2-BD59-A6C34878D82A}">
                    <a16:rowId xmlns:a16="http://schemas.microsoft.com/office/drawing/2014/main" val="3840228854"/>
                  </a:ext>
                </a:extLst>
              </a:tr>
              <a:tr h="554095">
                <a:tc>
                  <a:txBody>
                    <a:bodyPr/>
                    <a:lstStyle/>
                    <a:p>
                      <a:r>
                        <a:rPr lang="en-IN" sz="1500" b="1"/>
                        <a:t>Functioning Outcome Assessed</a:t>
                      </a:r>
                      <a:endParaRPr lang="en-IN" sz="1500"/>
                    </a:p>
                  </a:txBody>
                  <a:tcPr marL="78169" marR="78169" marT="39085" marB="39085" anchor="ctr"/>
                </a:tc>
                <a:tc>
                  <a:txBody>
                    <a:bodyPr/>
                    <a:lstStyle/>
                    <a:p>
                      <a:r>
                        <a:rPr lang="en-US" sz="1500"/>
                        <a:t>Whether functional outcomes (e.g., social, occupational) were measured.</a:t>
                      </a:r>
                    </a:p>
                  </a:txBody>
                  <a:tcPr marL="78169" marR="78169" marT="39085" marB="39085" anchor="ctr"/>
                </a:tc>
                <a:extLst>
                  <a:ext uri="{0D108BD9-81ED-4DB2-BD59-A6C34878D82A}">
                    <a16:rowId xmlns:a16="http://schemas.microsoft.com/office/drawing/2014/main" val="514019920"/>
                  </a:ext>
                </a:extLst>
              </a:tr>
              <a:tr h="316626">
                <a:tc>
                  <a:txBody>
                    <a:bodyPr/>
                    <a:lstStyle/>
                    <a:p>
                      <a:r>
                        <a:rPr lang="en-IN" sz="1500" b="1"/>
                        <a:t>Substance Use Outcome Assessed</a:t>
                      </a:r>
                      <a:endParaRPr lang="en-IN" sz="1500"/>
                    </a:p>
                  </a:txBody>
                  <a:tcPr marL="78169" marR="78169" marT="39085" marB="39085" anchor="ctr"/>
                </a:tc>
                <a:tc>
                  <a:txBody>
                    <a:bodyPr/>
                    <a:lstStyle/>
                    <a:p>
                      <a:r>
                        <a:rPr lang="en-US" sz="1500"/>
                        <a:t>Whether substance use outcomes were assessed.</a:t>
                      </a:r>
                    </a:p>
                  </a:txBody>
                  <a:tcPr marL="78169" marR="78169" marT="39085" marB="39085" anchor="ctr"/>
                </a:tc>
                <a:extLst>
                  <a:ext uri="{0D108BD9-81ED-4DB2-BD59-A6C34878D82A}">
                    <a16:rowId xmlns:a16="http://schemas.microsoft.com/office/drawing/2014/main" val="3172507175"/>
                  </a:ext>
                </a:extLst>
              </a:tr>
              <a:tr h="316626">
                <a:tc>
                  <a:txBody>
                    <a:bodyPr/>
                    <a:lstStyle/>
                    <a:p>
                      <a:r>
                        <a:rPr lang="en-US" sz="1500" b="1"/>
                        <a:t>Quality of Life Outcome Assessed</a:t>
                      </a:r>
                      <a:endParaRPr lang="en-US" sz="1500"/>
                    </a:p>
                  </a:txBody>
                  <a:tcPr marL="78169" marR="78169" marT="39085" marB="39085" anchor="ctr"/>
                </a:tc>
                <a:tc>
                  <a:txBody>
                    <a:bodyPr/>
                    <a:lstStyle/>
                    <a:p>
                      <a:r>
                        <a:rPr lang="en-US" sz="1500"/>
                        <a:t>Whether quality of life was assessed in the study.</a:t>
                      </a:r>
                    </a:p>
                  </a:txBody>
                  <a:tcPr marL="78169" marR="78169" marT="39085" marB="39085" anchor="ctr"/>
                </a:tc>
                <a:extLst>
                  <a:ext uri="{0D108BD9-81ED-4DB2-BD59-A6C34878D82A}">
                    <a16:rowId xmlns:a16="http://schemas.microsoft.com/office/drawing/2014/main" val="4247679675"/>
                  </a:ext>
                </a:extLst>
              </a:tr>
              <a:tr h="554095">
                <a:tc>
                  <a:txBody>
                    <a:bodyPr/>
                    <a:lstStyle/>
                    <a:p>
                      <a:r>
                        <a:rPr lang="en-US" sz="1500" b="1"/>
                        <a:t>Suicide or Self-Harm Related Outcomes</a:t>
                      </a:r>
                      <a:endParaRPr lang="en-US" sz="1500"/>
                    </a:p>
                  </a:txBody>
                  <a:tcPr marL="78169" marR="78169" marT="39085" marB="39085" anchor="ctr"/>
                </a:tc>
                <a:tc>
                  <a:txBody>
                    <a:bodyPr/>
                    <a:lstStyle/>
                    <a:p>
                      <a:r>
                        <a:rPr lang="en-US" sz="1500"/>
                        <a:t>Whether suicide or self-harm outcomes were measured.</a:t>
                      </a:r>
                    </a:p>
                  </a:txBody>
                  <a:tcPr marL="78169" marR="78169" marT="39085" marB="39085" anchor="ctr"/>
                </a:tc>
                <a:extLst>
                  <a:ext uri="{0D108BD9-81ED-4DB2-BD59-A6C34878D82A}">
                    <a16:rowId xmlns:a16="http://schemas.microsoft.com/office/drawing/2014/main" val="1038372990"/>
                  </a:ext>
                </a:extLst>
              </a:tr>
              <a:tr h="554095">
                <a:tc>
                  <a:txBody>
                    <a:bodyPr/>
                    <a:lstStyle/>
                    <a:p>
                      <a:r>
                        <a:rPr lang="en-IN" sz="1500" b="1"/>
                        <a:t>Serious Harms Assessed</a:t>
                      </a:r>
                      <a:endParaRPr lang="en-IN" sz="1500"/>
                    </a:p>
                  </a:txBody>
                  <a:tcPr marL="78169" marR="78169" marT="39085" marB="39085" anchor="ctr"/>
                </a:tc>
                <a:tc>
                  <a:txBody>
                    <a:bodyPr/>
                    <a:lstStyle/>
                    <a:p>
                      <a:r>
                        <a:rPr lang="en-US" sz="1500"/>
                        <a:t>Whether serious harms (e.g., adverse effects) were measured.</a:t>
                      </a:r>
                    </a:p>
                  </a:txBody>
                  <a:tcPr marL="78169" marR="78169" marT="39085" marB="39085" anchor="ctr"/>
                </a:tc>
                <a:extLst>
                  <a:ext uri="{0D108BD9-81ED-4DB2-BD59-A6C34878D82A}">
                    <a16:rowId xmlns:a16="http://schemas.microsoft.com/office/drawing/2014/main" val="2144049588"/>
                  </a:ext>
                </a:extLst>
              </a:tr>
              <a:tr h="316626">
                <a:tc>
                  <a:txBody>
                    <a:bodyPr/>
                    <a:lstStyle/>
                    <a:p>
                      <a:r>
                        <a:rPr lang="en-IN" sz="1500" b="1" dirty="0"/>
                        <a:t>Risk of Bias Rating</a:t>
                      </a:r>
                      <a:endParaRPr lang="en-IN" sz="1500" dirty="0"/>
                    </a:p>
                  </a:txBody>
                  <a:tcPr marL="78169" marR="78169" marT="39085" marB="39085" anchor="ctr"/>
                </a:tc>
                <a:tc>
                  <a:txBody>
                    <a:bodyPr/>
                    <a:lstStyle/>
                    <a:p>
                      <a:r>
                        <a:rPr lang="en-US" sz="1500"/>
                        <a:t>Rating of the risk of bias in the study’s methodology.</a:t>
                      </a:r>
                    </a:p>
                  </a:txBody>
                  <a:tcPr marL="78169" marR="78169" marT="39085" marB="39085" anchor="ctr"/>
                </a:tc>
                <a:extLst>
                  <a:ext uri="{0D108BD9-81ED-4DB2-BD59-A6C34878D82A}">
                    <a16:rowId xmlns:a16="http://schemas.microsoft.com/office/drawing/2014/main" val="4239249771"/>
                  </a:ext>
                </a:extLst>
              </a:tr>
              <a:tr h="554095">
                <a:tc>
                  <a:txBody>
                    <a:bodyPr/>
                    <a:lstStyle/>
                    <a:p>
                      <a:r>
                        <a:rPr lang="en-IN" sz="1500" b="1"/>
                        <a:t>Patients with Suicidality Excluded</a:t>
                      </a:r>
                      <a:endParaRPr lang="en-IN" sz="1500"/>
                    </a:p>
                  </a:txBody>
                  <a:tcPr marL="78169" marR="78169" marT="39085" marB="39085" anchor="ctr"/>
                </a:tc>
                <a:tc>
                  <a:txBody>
                    <a:bodyPr/>
                    <a:lstStyle/>
                    <a:p>
                      <a:r>
                        <a:rPr lang="en-US" sz="1500"/>
                        <a:t>Whether patients with suicidality were excluded from the study.</a:t>
                      </a:r>
                    </a:p>
                  </a:txBody>
                  <a:tcPr marL="78169" marR="78169" marT="39085" marB="39085" anchor="ctr"/>
                </a:tc>
                <a:extLst>
                  <a:ext uri="{0D108BD9-81ED-4DB2-BD59-A6C34878D82A}">
                    <a16:rowId xmlns:a16="http://schemas.microsoft.com/office/drawing/2014/main" val="414764928"/>
                  </a:ext>
                </a:extLst>
              </a:tr>
              <a:tr h="554095">
                <a:tc>
                  <a:txBody>
                    <a:bodyPr/>
                    <a:lstStyle/>
                    <a:p>
                      <a:r>
                        <a:rPr lang="en-US" sz="1500" b="1"/>
                        <a:t>Suicide and Self-Directed Violence Related Inclusion and Exclusion Criteria</a:t>
                      </a:r>
                      <a:endParaRPr lang="en-US" sz="1500"/>
                    </a:p>
                  </a:txBody>
                  <a:tcPr marL="78169" marR="78169" marT="39085" marB="39085" anchor="ctr"/>
                </a:tc>
                <a:tc>
                  <a:txBody>
                    <a:bodyPr/>
                    <a:lstStyle/>
                    <a:p>
                      <a:r>
                        <a:rPr lang="en-US" sz="1500"/>
                        <a:t>Criteria for including or excluding participants based on suicide risk.</a:t>
                      </a:r>
                    </a:p>
                  </a:txBody>
                  <a:tcPr marL="78169" marR="78169" marT="39085" marB="39085" anchor="ctr"/>
                </a:tc>
                <a:extLst>
                  <a:ext uri="{0D108BD9-81ED-4DB2-BD59-A6C34878D82A}">
                    <a16:rowId xmlns:a16="http://schemas.microsoft.com/office/drawing/2014/main" val="3629574578"/>
                  </a:ext>
                </a:extLst>
              </a:tr>
              <a:tr h="554095">
                <a:tc>
                  <a:txBody>
                    <a:bodyPr/>
                    <a:lstStyle/>
                    <a:p>
                      <a:r>
                        <a:rPr lang="en-US" sz="1500" b="1"/>
                        <a:t>Psychotic Disorder and Symptom Related Inclusion and Exclusion Criteria</a:t>
                      </a:r>
                      <a:endParaRPr lang="en-US" sz="1500"/>
                    </a:p>
                  </a:txBody>
                  <a:tcPr marL="78169" marR="78169" marT="39085" marB="39085" anchor="ctr"/>
                </a:tc>
                <a:tc>
                  <a:txBody>
                    <a:bodyPr/>
                    <a:lstStyle/>
                    <a:p>
                      <a:r>
                        <a:rPr lang="en-US" sz="1500"/>
                        <a:t>Whether participants with psychotic disorders were excluded.</a:t>
                      </a:r>
                    </a:p>
                  </a:txBody>
                  <a:tcPr marL="78169" marR="78169" marT="39085" marB="39085" anchor="ctr"/>
                </a:tc>
                <a:extLst>
                  <a:ext uri="{0D108BD9-81ED-4DB2-BD59-A6C34878D82A}">
                    <a16:rowId xmlns:a16="http://schemas.microsoft.com/office/drawing/2014/main" val="551149256"/>
                  </a:ext>
                </a:extLst>
              </a:tr>
              <a:tr h="554095">
                <a:tc>
                  <a:txBody>
                    <a:bodyPr/>
                    <a:lstStyle/>
                    <a:p>
                      <a:r>
                        <a:rPr lang="en-IN" sz="1500" b="1"/>
                        <a:t>Trauma Type</a:t>
                      </a:r>
                      <a:endParaRPr lang="en-IN" sz="1500"/>
                    </a:p>
                  </a:txBody>
                  <a:tcPr marL="78169" marR="78169" marT="39085" marB="39085" anchor="ctr"/>
                </a:tc>
                <a:tc>
                  <a:txBody>
                    <a:bodyPr/>
                    <a:lstStyle/>
                    <a:p>
                      <a:r>
                        <a:rPr lang="en-US" sz="1500"/>
                        <a:t>Type of trauma experienced by participants (e.g., combat, sexual assault).</a:t>
                      </a:r>
                    </a:p>
                  </a:txBody>
                  <a:tcPr marL="78169" marR="78169" marT="39085" marB="39085" anchor="ctr"/>
                </a:tc>
                <a:extLst>
                  <a:ext uri="{0D108BD9-81ED-4DB2-BD59-A6C34878D82A}">
                    <a16:rowId xmlns:a16="http://schemas.microsoft.com/office/drawing/2014/main" val="215010527"/>
                  </a:ext>
                </a:extLst>
              </a:tr>
              <a:tr h="554095">
                <a:tc>
                  <a:txBody>
                    <a:bodyPr/>
                    <a:lstStyle/>
                    <a:p>
                      <a:r>
                        <a:rPr lang="en-IN" sz="1500" b="1"/>
                        <a:t>Trauma Detail</a:t>
                      </a:r>
                      <a:endParaRPr lang="en-IN" sz="1500"/>
                    </a:p>
                  </a:txBody>
                  <a:tcPr marL="78169" marR="78169" marT="39085" marB="39085" anchor="ctr"/>
                </a:tc>
                <a:tc>
                  <a:txBody>
                    <a:bodyPr/>
                    <a:lstStyle/>
                    <a:p>
                      <a:r>
                        <a:rPr lang="en-US" sz="1500"/>
                        <a:t>Additional details about the trauma (e.g., nature, duration).</a:t>
                      </a:r>
                    </a:p>
                  </a:txBody>
                  <a:tcPr marL="78169" marR="78169" marT="39085" marB="39085" anchor="ctr"/>
                </a:tc>
                <a:extLst>
                  <a:ext uri="{0D108BD9-81ED-4DB2-BD59-A6C34878D82A}">
                    <a16:rowId xmlns:a16="http://schemas.microsoft.com/office/drawing/2014/main" val="2065101745"/>
                  </a:ext>
                </a:extLst>
              </a:tr>
              <a:tr h="554095">
                <a:tc>
                  <a:txBody>
                    <a:bodyPr/>
                    <a:lstStyle/>
                    <a:p>
                      <a:r>
                        <a:rPr lang="en-IN" sz="1500" b="1"/>
                        <a:t>PTSD Severity</a:t>
                      </a:r>
                      <a:endParaRPr lang="en-IN" sz="1500"/>
                    </a:p>
                  </a:txBody>
                  <a:tcPr marL="78169" marR="78169" marT="39085" marB="39085" anchor="ctr"/>
                </a:tc>
                <a:tc>
                  <a:txBody>
                    <a:bodyPr/>
                    <a:lstStyle/>
                    <a:p>
                      <a:r>
                        <a:rPr lang="en-US" sz="1500" dirty="0"/>
                        <a:t>The level of PTSD severity in the participants (e.g., low, medium, high).</a:t>
                      </a:r>
                    </a:p>
                  </a:txBody>
                  <a:tcPr marL="78169" marR="78169" marT="39085" marB="39085" anchor="ctr"/>
                </a:tc>
                <a:extLst>
                  <a:ext uri="{0D108BD9-81ED-4DB2-BD59-A6C34878D82A}">
                    <a16:rowId xmlns:a16="http://schemas.microsoft.com/office/drawing/2014/main" val="1628762744"/>
                  </a:ext>
                </a:extLst>
              </a:tr>
            </a:tbl>
          </a:graphicData>
        </a:graphic>
      </p:graphicFrame>
      <p:sp>
        <p:nvSpPr>
          <p:cNvPr id="5" name="Rectangle 1">
            <a:extLst>
              <a:ext uri="{FF2B5EF4-FFF2-40B4-BE49-F238E27FC236}">
                <a16:creationId xmlns:a16="http://schemas.microsoft.com/office/drawing/2014/main" id="{13ACEE65-52B0-C2CB-FEA3-8ED807FB32C2}"/>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51475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6BA0-EB9F-E1C3-AD65-B48DEB7A3A0F}"/>
              </a:ext>
            </a:extLst>
          </p:cNvPr>
          <p:cNvSpPr>
            <a:spLocks noGrp="1"/>
          </p:cNvSpPr>
          <p:nvPr>
            <p:ph type="title"/>
          </p:nvPr>
        </p:nvSpPr>
        <p:spPr>
          <a:xfrm>
            <a:off x="357323" y="172270"/>
            <a:ext cx="10018713" cy="726311"/>
          </a:xfrm>
        </p:spPr>
        <p:txBody>
          <a:bodyPr/>
          <a:lstStyle/>
          <a:p>
            <a:r>
              <a:rPr lang="en-IN" dirty="0">
                <a:latin typeface="EB Garamond SemiBold" panose="00000700000000000000" pitchFamily="2" charset="0"/>
                <a:ea typeface="EB Garamond SemiBold" panose="00000700000000000000" pitchFamily="2" charset="0"/>
              </a:rPr>
              <a:t>Summary Of Issues</a:t>
            </a:r>
          </a:p>
        </p:txBody>
      </p:sp>
      <p:sp>
        <p:nvSpPr>
          <p:cNvPr id="6" name="TextBox 5">
            <a:extLst>
              <a:ext uri="{FF2B5EF4-FFF2-40B4-BE49-F238E27FC236}">
                <a16:creationId xmlns:a16="http://schemas.microsoft.com/office/drawing/2014/main" id="{525DD7BC-E870-EF1C-176A-3906764699BA}"/>
              </a:ext>
            </a:extLst>
          </p:cNvPr>
          <p:cNvSpPr txBox="1"/>
          <p:nvPr/>
        </p:nvSpPr>
        <p:spPr>
          <a:xfrm>
            <a:off x="768803" y="1096701"/>
            <a:ext cx="10310677" cy="5909310"/>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
                <a:schemeClr val="accent1"/>
              </a:buClr>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Complex Interactions Between Variables</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742950" lvl="1" indent="-285750" defTabSz="914400" eaLnBrk="0" fontAlgn="base" hangingPunct="0">
              <a:spcBef>
                <a:spcPct val="0"/>
              </a:spcBef>
              <a:spcAft>
                <a:spcPct val="0"/>
              </a:spcAft>
              <a:buClr>
                <a:schemeClr val="accent1"/>
              </a:buClr>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Difficulty understanding how co-occurring factors like PTSD, alcohol misuse, aggression, and combat exposure interact dynamically (Papers 1, 11, 13, 17).</a:t>
            </a:r>
          </a:p>
          <a:p>
            <a:pPr marL="285750" indent="-285750">
              <a:buClr>
                <a:schemeClr val="accent1"/>
              </a:buClr>
              <a:buFont typeface="Wingdings" panose="05000000000000000000" pitchFamily="2" charset="2"/>
              <a:buChar char="Ø"/>
            </a:pPr>
            <a:endParaRPr lang="en-US" b="1"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Statistical and Analytical Limitations</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Complex statistical relationships, such as mediation and moderation effects, were hard to disentangle in multi-variable contexts (Papers 5, 6, 11, 14).</a:t>
            </a: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Variability in outcomes and dynamic behaviors (e.g., alcohol misuse and PTSD symptoms over time) added to analytical complexity (Paper 17).</a:t>
            </a:r>
          </a:p>
          <a:p>
            <a:pPr marL="285750" indent="-285750">
              <a:buClr>
                <a:schemeClr val="accent1"/>
              </a:buClr>
              <a:buFont typeface="Wingdings" panose="05000000000000000000" pitchFamily="2" charset="2"/>
              <a:buChar char="Ø"/>
            </a:pPr>
            <a:endParaRPr lang="en-US"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IN" b="1" dirty="0">
                <a:latin typeface="Arial" panose="020B0604020202020204" pitchFamily="34" charset="0"/>
                <a:cs typeface="Arial" panose="020B0604020202020204" pitchFamily="34" charset="0"/>
              </a:rPr>
              <a:t>Challenges in Validating and Adapting Tools</a:t>
            </a:r>
            <a:endParaRPr lang="en-IN"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IN" dirty="0">
                <a:latin typeface="Arial" panose="020B0604020202020204" pitchFamily="34" charset="0"/>
                <a:cs typeface="Arial" panose="020B0604020202020204" pitchFamily="34" charset="0"/>
              </a:rPr>
              <a:t>Adapting psychometric tools like the PTSD Checklist (PCL-5) and its variants to specific populations (e.g., veterans, civilians, treatment-seeking individuals) posed challenges in ensuring reliability and validity (Papers 2,15, 18).</a:t>
            </a:r>
          </a:p>
          <a:p>
            <a:pPr marL="285750" indent="-285750">
              <a:buClr>
                <a:schemeClr val="accent1"/>
              </a:buClr>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Data Collection and Measurement Issues</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Challenges in obtaining accurate, real-time data for ecological momentary assessments (Papers 17).</a:t>
            </a: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Difficulty in measuring physiological predictors like heart rate variability and their predictive power (Paper 16).</a:t>
            </a:r>
          </a:p>
          <a:p>
            <a:endParaRPr lang="en-IN" dirty="0"/>
          </a:p>
        </p:txBody>
      </p:sp>
    </p:spTree>
    <p:extLst>
      <p:ext uri="{BB962C8B-B14F-4D97-AF65-F5344CB8AC3E}">
        <p14:creationId xmlns:p14="http://schemas.microsoft.com/office/powerpoint/2010/main" val="79522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B4FA03-E062-6428-72DD-5B441E5B63AB}"/>
              </a:ext>
            </a:extLst>
          </p:cNvPr>
          <p:cNvSpPr txBox="1"/>
          <p:nvPr/>
        </p:nvSpPr>
        <p:spPr>
          <a:xfrm>
            <a:off x="640081" y="827544"/>
            <a:ext cx="10363200" cy="5632311"/>
          </a:xfrm>
          <a:prstGeom prst="rect">
            <a:avLst/>
          </a:prstGeom>
          <a:noFill/>
        </p:spPr>
        <p:txBody>
          <a:bodyPr wrap="square">
            <a:spAutoFit/>
          </a:bodyPr>
          <a:lstStyle/>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Behavioral Complexity</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Identifying and linking patterns of risk-taking, aggression, and impulsivity with PTSD severity (Papers 4, 13, 14).</a:t>
            </a: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Capturing and analyzing multifaceted behavioral responses to trauma (Papers 1, 11, 19).</a:t>
            </a:r>
          </a:p>
          <a:p>
            <a:pPr marL="285750" indent="-285750">
              <a:buClr>
                <a:schemeClr val="accent1"/>
              </a:buClr>
              <a:buFont typeface="Wingdings" panose="05000000000000000000" pitchFamily="2" charset="2"/>
              <a:buChar char="Ø"/>
            </a:pPr>
            <a:endParaRPr lang="en-US"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Algorithm and Machine Learning Challenges</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Integrating machine learning models like decision trees, random forests, and SVMs faced issues of interpretability and handling diverse data features (Papers 7, 19).</a:t>
            </a:r>
          </a:p>
          <a:p>
            <a:pPr marL="285750" indent="-285750">
              <a:buClr>
                <a:schemeClr val="accent1"/>
              </a:buClr>
              <a:buFont typeface="Wingdings" panose="05000000000000000000" pitchFamily="2" charset="2"/>
              <a:buChar char="Ø"/>
            </a:pPr>
            <a:endParaRPr lang="en-US"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Context-Specific Challenges</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Addressing unique risk factors such as socio-economic influences and community violence in adolescent populations (Paper 20).</a:t>
            </a: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Adjusting interventions to fit the needs of active-duty military personnel vs. civilians (Papers 3, 12, 16).</a:t>
            </a:r>
          </a:p>
          <a:p>
            <a:pPr marL="285750" indent="-285750">
              <a:buClr>
                <a:schemeClr val="accent1"/>
              </a:buClr>
              <a:buFont typeface="Wingdings" panose="05000000000000000000" pitchFamily="2" charset="2"/>
              <a:buChar char="Ø"/>
            </a:pPr>
            <a:endParaRPr lang="en-US" dirty="0">
              <a:latin typeface="Arial" panose="020B0604020202020204" pitchFamily="34" charset="0"/>
              <a:cs typeface="Arial" panose="020B0604020202020204" pitchFamily="34" charset="0"/>
            </a:endParaRPr>
          </a:p>
          <a:p>
            <a:pPr marL="285750" indent="-285750">
              <a:buClr>
                <a:schemeClr val="accent1"/>
              </a:buClr>
              <a:buFont typeface="Wingdings" panose="05000000000000000000" pitchFamily="2" charset="2"/>
              <a:buChar char="Ø"/>
            </a:pPr>
            <a:r>
              <a:rPr lang="en-US" b="1" dirty="0">
                <a:latin typeface="Arial" panose="020B0604020202020204" pitchFamily="34" charset="0"/>
                <a:cs typeface="Arial" panose="020B0604020202020204" pitchFamily="34" charset="0"/>
              </a:rPr>
              <a:t>Intervention and Treatment Gaps</a:t>
            </a:r>
            <a:endParaRPr lang="en-US" dirty="0">
              <a:latin typeface="Arial" panose="020B0604020202020204" pitchFamily="34" charset="0"/>
              <a:cs typeface="Arial" panose="020B0604020202020204" pitchFamily="34" charset="0"/>
            </a:endParaRP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Limited understanding of how to develop integrated treatment strategies for co-occurring issues like PTSD, aggression, and substance misuse (Papers 11, 13).</a:t>
            </a:r>
          </a:p>
          <a:p>
            <a:pPr marL="742950" lvl="1" indent="-285750">
              <a:buClr>
                <a:schemeClr val="accent1"/>
              </a:buClr>
              <a:buFont typeface="Wingdings" panose="05000000000000000000" pitchFamily="2" charset="2"/>
              <a:buChar char="Ø"/>
            </a:pPr>
            <a:r>
              <a:rPr lang="en-US" dirty="0">
                <a:latin typeface="Arial" panose="020B0604020202020204" pitchFamily="34" charset="0"/>
                <a:cs typeface="Arial" panose="020B0604020202020204" pitchFamily="34" charset="0"/>
              </a:rPr>
              <a:t>Identifying effective prevention methods for long-term well-being (Paper 20).</a:t>
            </a:r>
          </a:p>
          <a:p>
            <a:endParaRPr lang="en-US" dirty="0"/>
          </a:p>
        </p:txBody>
      </p:sp>
    </p:spTree>
    <p:extLst>
      <p:ext uri="{BB962C8B-B14F-4D97-AF65-F5344CB8AC3E}">
        <p14:creationId xmlns:p14="http://schemas.microsoft.com/office/powerpoint/2010/main" val="2020668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44270-B66E-20BC-C228-91922D392334}"/>
              </a:ext>
            </a:extLst>
          </p:cNvPr>
          <p:cNvSpPr>
            <a:spLocks noGrp="1"/>
          </p:cNvSpPr>
          <p:nvPr>
            <p:ph type="title"/>
          </p:nvPr>
        </p:nvSpPr>
        <p:spPr/>
        <p:txBody>
          <a:bodyPr/>
          <a:lstStyle/>
          <a:p>
            <a:r>
              <a:rPr lang="en-IN" dirty="0">
                <a:latin typeface="EB Garamond SemiBold" panose="00000700000000000000" pitchFamily="2" charset="0"/>
                <a:ea typeface="EB Garamond SemiBold" panose="00000700000000000000" pitchFamily="2" charset="0"/>
              </a:rPr>
              <a:t>OVERALL ARCHITECTURE</a:t>
            </a:r>
          </a:p>
        </p:txBody>
      </p:sp>
      <p:sp>
        <p:nvSpPr>
          <p:cNvPr id="3" name="Content Placeholder 2">
            <a:extLst>
              <a:ext uri="{FF2B5EF4-FFF2-40B4-BE49-F238E27FC236}">
                <a16:creationId xmlns:a16="http://schemas.microsoft.com/office/drawing/2014/main" id="{EC4CF6BF-0F7F-0737-3927-1A0B1B2A9622}"/>
              </a:ext>
            </a:extLst>
          </p:cNvPr>
          <p:cNvSpPr>
            <a:spLocks noGrp="1"/>
          </p:cNvSpPr>
          <p:nvPr>
            <p:ph idx="1"/>
          </p:nvPr>
        </p:nvSpPr>
        <p:spPr>
          <a:xfrm>
            <a:off x="677334" y="1743146"/>
            <a:ext cx="10404796" cy="4389297"/>
          </a:xfrm>
        </p:spPr>
        <p:txBody>
          <a:bodyPr>
            <a:noAutofit/>
          </a:bodyPr>
          <a:lstStyle/>
          <a:p>
            <a:r>
              <a:rPr lang="en-IN" sz="1800" b="1" dirty="0">
                <a:latin typeface="Arial" panose="020B0604020202020204" pitchFamily="34" charset="0"/>
                <a:cs typeface="Arial" panose="020B0604020202020204" pitchFamily="34" charset="0"/>
              </a:rPr>
              <a:t>1. Data Collection Layer</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Sources:</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Medical Records</a:t>
            </a: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Psychological Assessments</a:t>
            </a: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Wearable Device Data</a:t>
            </a: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Self-Reported Symptoms</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Purpose:</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Gather diverse and comprehensive data on veterans to </a:t>
            </a:r>
            <a:r>
              <a:rPr lang="en-IN" sz="1800" dirty="0" err="1">
                <a:latin typeface="Arial" panose="020B0604020202020204" pitchFamily="34" charset="0"/>
                <a:cs typeface="Arial" panose="020B0604020202020204" pitchFamily="34" charset="0"/>
              </a:rPr>
              <a:t>analyze</a:t>
            </a:r>
            <a:r>
              <a:rPr lang="en-IN" sz="1800" dirty="0">
                <a:latin typeface="Arial" panose="020B0604020202020204" pitchFamily="34" charset="0"/>
                <a:cs typeface="Arial" panose="020B0604020202020204" pitchFamily="34" charset="0"/>
              </a:rPr>
              <a:t> PTSD severity.</a:t>
            </a:r>
          </a:p>
          <a:p>
            <a:r>
              <a:rPr lang="en-IN" sz="1800" b="1" dirty="0">
                <a:latin typeface="Arial" panose="020B0604020202020204" pitchFamily="34" charset="0"/>
                <a:cs typeface="Arial" panose="020B0604020202020204" pitchFamily="34" charset="0"/>
              </a:rPr>
              <a:t>2. Data Preprocessing Layer</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Steps:</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Normalization:</a:t>
            </a:r>
            <a:r>
              <a:rPr lang="en-IN" sz="1800" dirty="0">
                <a:latin typeface="Arial" panose="020B0604020202020204" pitchFamily="34" charset="0"/>
                <a:cs typeface="Arial" panose="020B0604020202020204" pitchFamily="34" charset="0"/>
              </a:rPr>
              <a:t> Min-Max scaling for numerical features.</a:t>
            </a: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Categorical Encoding:</a:t>
            </a:r>
            <a:r>
              <a:rPr lang="en-IN" sz="1800" dirty="0">
                <a:latin typeface="Arial" panose="020B0604020202020204" pitchFamily="34" charset="0"/>
                <a:cs typeface="Arial" panose="020B0604020202020204" pitchFamily="34" charset="0"/>
              </a:rPr>
              <a:t> Conversion of categorical variables to numerical formats using Label Encoding and custom mappings.</a:t>
            </a: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Feature Selection:</a:t>
            </a:r>
            <a:r>
              <a:rPr lang="en-IN" sz="1800" dirty="0">
                <a:latin typeface="Arial" panose="020B0604020202020204" pitchFamily="34" charset="0"/>
                <a:cs typeface="Arial" panose="020B0604020202020204" pitchFamily="34" charset="0"/>
              </a:rPr>
              <a:t> Identification of significant features via correlation analysis and heatmaps.</a:t>
            </a: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0965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0FD4E8-56FE-C5C7-36AE-066DDE020E1B}"/>
              </a:ext>
            </a:extLst>
          </p:cNvPr>
          <p:cNvSpPr>
            <a:spLocks noGrp="1"/>
          </p:cNvSpPr>
          <p:nvPr>
            <p:ph idx="1"/>
          </p:nvPr>
        </p:nvSpPr>
        <p:spPr>
          <a:xfrm>
            <a:off x="568004" y="341728"/>
            <a:ext cx="11438466" cy="6625602"/>
          </a:xfrm>
        </p:spPr>
        <p:txBody>
          <a:bodyPr/>
          <a:lstStyle/>
          <a:p>
            <a:r>
              <a:rPr lang="en-IN" sz="1800" b="1" dirty="0">
                <a:latin typeface="Arial" panose="020B0604020202020204" pitchFamily="34" charset="0"/>
                <a:cs typeface="Arial" panose="020B0604020202020204" pitchFamily="34" charset="0"/>
              </a:rPr>
              <a:t>3. Machine Learning Layer</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Algorithms:</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High-Performance Models:</a:t>
            </a:r>
            <a:endParaRPr lang="en-IN" sz="18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Random Forest</a:t>
            </a:r>
          </a:p>
          <a:p>
            <a:pPr marL="1143000" lvl="2" indent="-228600">
              <a:buFont typeface="Arial" panose="020B0604020202020204" pitchFamily="34" charset="0"/>
              <a:buChar char="•"/>
            </a:pPr>
            <a:r>
              <a:rPr lang="en-IN" sz="1800" dirty="0" err="1">
                <a:latin typeface="Arial" panose="020B0604020202020204" pitchFamily="34" charset="0"/>
                <a:cs typeface="Arial" panose="020B0604020202020204" pitchFamily="34" charset="0"/>
              </a:rPr>
              <a:t>CatBoost</a:t>
            </a:r>
            <a:endParaRPr lang="en-IN" sz="18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IN" sz="1800" dirty="0" err="1">
                <a:latin typeface="Arial" panose="020B0604020202020204" pitchFamily="34" charset="0"/>
                <a:cs typeface="Arial" panose="020B0604020202020204" pitchFamily="34" charset="0"/>
              </a:rPr>
              <a:t>XGBoost</a:t>
            </a:r>
            <a:endParaRPr lang="en-IN" sz="18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Gradient Boosting</a:t>
            </a: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Baseline Models:</a:t>
            </a:r>
            <a:endParaRPr lang="en-IN" sz="18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Logistic Regression</a:t>
            </a: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Naive Bayes</a:t>
            </a: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SVM</a:t>
            </a:r>
          </a:p>
          <a:p>
            <a:pPr marL="1143000" lvl="2" indent="-228600">
              <a:buFont typeface="Arial" panose="020B0604020202020204" pitchFamily="34" charset="0"/>
              <a:buChar char="•"/>
            </a:pPr>
            <a:r>
              <a:rPr lang="en-IN" sz="1800" dirty="0">
                <a:latin typeface="Arial" panose="020B0604020202020204" pitchFamily="34" charset="0"/>
                <a:cs typeface="Arial" panose="020B0604020202020204" pitchFamily="34" charset="0"/>
              </a:rPr>
              <a:t>KNN</a:t>
            </a:r>
          </a:p>
          <a:p>
            <a:pPr marL="742950" lvl="1" indent="-285750">
              <a:buFont typeface="Arial" panose="020B0604020202020204" pitchFamily="34" charset="0"/>
              <a:buChar char="•"/>
            </a:pPr>
            <a:r>
              <a:rPr lang="en-IN" sz="1800" b="1" dirty="0">
                <a:latin typeface="Arial" panose="020B0604020202020204" pitchFamily="34" charset="0"/>
                <a:cs typeface="Arial" panose="020B0604020202020204" pitchFamily="34" charset="0"/>
              </a:rPr>
              <a:t>Clustering Algorithm:</a:t>
            </a:r>
            <a:r>
              <a:rPr lang="en-IN" sz="1800" dirty="0">
                <a:latin typeface="Arial" panose="020B0604020202020204" pitchFamily="34" charset="0"/>
                <a:cs typeface="Arial" panose="020B0604020202020204" pitchFamily="34" charset="0"/>
              </a:rPr>
              <a:t> K-Means for exploratory data analysis (not for prediction).</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Training:</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Train models on processed data using training splits.</a:t>
            </a: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Evaluate performance using cross-validation and metrics.</a:t>
            </a:r>
          </a:p>
          <a:p>
            <a:pPr>
              <a:buFont typeface="Arial" panose="020B0604020202020204" pitchFamily="34" charset="0"/>
              <a:buChar char="•"/>
            </a:pPr>
            <a:r>
              <a:rPr lang="en-IN" sz="1800" b="1" dirty="0">
                <a:latin typeface="Arial" panose="020B0604020202020204" pitchFamily="34" charset="0"/>
                <a:cs typeface="Arial" panose="020B0604020202020204" pitchFamily="34" charset="0"/>
              </a:rPr>
              <a:t>Evaluation Metrics:</a:t>
            </a:r>
            <a:endParaRPr lang="en-IN"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IN" sz="1800" dirty="0">
                <a:latin typeface="Arial" panose="020B0604020202020204" pitchFamily="34" charset="0"/>
                <a:cs typeface="Arial" panose="020B0604020202020204" pitchFamily="34" charset="0"/>
              </a:rPr>
              <a:t>Accuracy, Precision, Recall, F1-Score.</a:t>
            </a:r>
          </a:p>
          <a:p>
            <a:pPr marL="0" indent="0">
              <a:buNone/>
            </a:pPr>
            <a:endParaRPr lang="en-IN" dirty="0"/>
          </a:p>
        </p:txBody>
      </p:sp>
    </p:spTree>
    <p:extLst>
      <p:ext uri="{BB962C8B-B14F-4D97-AF65-F5344CB8AC3E}">
        <p14:creationId xmlns:p14="http://schemas.microsoft.com/office/powerpoint/2010/main" val="3031661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9BDE7-CF80-7996-1789-12072913B271}"/>
              </a:ext>
            </a:extLst>
          </p:cNvPr>
          <p:cNvSpPr>
            <a:spLocks noGrp="1"/>
          </p:cNvSpPr>
          <p:nvPr>
            <p:ph idx="1"/>
          </p:nvPr>
        </p:nvSpPr>
        <p:spPr>
          <a:xfrm>
            <a:off x="895994" y="421241"/>
            <a:ext cx="8596668" cy="6078950"/>
          </a:xfrm>
        </p:spPr>
        <p:txBody>
          <a:bodyPr>
            <a:normAutofit/>
          </a:bodyPr>
          <a:lstStyle/>
          <a:p>
            <a:r>
              <a:rPr lang="en-US" sz="1800" b="1" dirty="0">
                <a:latin typeface="Arial" panose="020B0604020202020204" pitchFamily="34" charset="0"/>
                <a:cs typeface="Arial" panose="020B0604020202020204" pitchFamily="34" charset="0"/>
              </a:rPr>
              <a:t>4. Prediction Layer</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Input:</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Data from veterans (real-time or batch).</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Output:</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PTSD severity levels (e.g., Low, Medium, High).</a:t>
            </a:r>
          </a:p>
          <a:p>
            <a:r>
              <a:rPr lang="en-US" sz="1800" b="1" dirty="0">
                <a:latin typeface="Arial" panose="020B0604020202020204" pitchFamily="34" charset="0"/>
                <a:cs typeface="Arial" panose="020B0604020202020204" pitchFamily="34" charset="0"/>
              </a:rPr>
              <a:t>5. Model Evaluation and Comparison</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Steps:</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Generate confusion matrices for all models.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Compare models based on evaluation metrics.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Select the best-performing model for deployment (Random Forest and </a:t>
            </a:r>
            <a:r>
              <a:rPr lang="en-US" sz="1800" dirty="0" err="1">
                <a:latin typeface="Arial" panose="020B0604020202020204" pitchFamily="34" charset="0"/>
                <a:cs typeface="Arial" panose="020B0604020202020204" pitchFamily="34" charset="0"/>
              </a:rPr>
              <a:t>CatBoost</a:t>
            </a:r>
            <a:r>
              <a:rPr lang="en-US" sz="1800" dirty="0">
                <a:latin typeface="Arial" panose="020B0604020202020204" pitchFamily="34" charset="0"/>
                <a:cs typeface="Arial" panose="020B0604020202020204" pitchFamily="34" charset="0"/>
              </a:rPr>
              <a:t> in this case).</a:t>
            </a:r>
          </a:p>
          <a:p>
            <a:r>
              <a:rPr lang="en-US" sz="1800" b="1" dirty="0">
                <a:latin typeface="Arial" panose="020B0604020202020204" pitchFamily="34" charset="0"/>
                <a:cs typeface="Arial" panose="020B0604020202020204" pitchFamily="34" charset="0"/>
              </a:rPr>
              <a:t>6. Deployment Layer</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Environment:</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Deploy selected model(s) in clinical settings.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Interfaces:</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User-friendly dashboard for healthcare professionals.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API for integration with medical record systems.</a:t>
            </a:r>
          </a:p>
          <a:p>
            <a:pPr marL="0" indent="0">
              <a:buNone/>
            </a:pP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4607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961B7-7176-2642-AD57-4DD9372EBB16}"/>
              </a:ext>
            </a:extLst>
          </p:cNvPr>
          <p:cNvSpPr>
            <a:spLocks noGrp="1"/>
          </p:cNvSpPr>
          <p:nvPr>
            <p:ph idx="1"/>
          </p:nvPr>
        </p:nvSpPr>
        <p:spPr>
          <a:xfrm>
            <a:off x="627639" y="371546"/>
            <a:ext cx="11070718" cy="6039193"/>
          </a:xfrm>
        </p:spPr>
        <p:txBody>
          <a:bodyPr>
            <a:normAutofit/>
          </a:bodyPr>
          <a:lstStyle/>
          <a:p>
            <a:r>
              <a:rPr lang="en-US" sz="1800" b="1" dirty="0">
                <a:latin typeface="Arial" panose="020B0604020202020204" pitchFamily="34" charset="0"/>
                <a:cs typeface="Arial" panose="020B0604020202020204" pitchFamily="34" charset="0"/>
              </a:rPr>
              <a:t>7. Intervention Support Layer</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Integration:</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Alerts for high-risk individuals.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Suggestion of personalized treatment plans based on predictions.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Feedback Loop:</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Update model with new data to improve prediction accuracy over time.</a:t>
            </a:r>
          </a:p>
          <a:p>
            <a:r>
              <a:rPr lang="en-US" sz="1800" b="1" dirty="0">
                <a:latin typeface="Arial" panose="020B0604020202020204" pitchFamily="34" charset="0"/>
                <a:cs typeface="Arial" panose="020B0604020202020204" pitchFamily="34" charset="0"/>
              </a:rPr>
              <a:t>8. Visualization and Reporting</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Tools:</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Dashboards and visualizations for interpreting predictions.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Reports:</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Generate detailed patient profiles and risk factors for PTSD.</a:t>
            </a:r>
          </a:p>
          <a:p>
            <a:r>
              <a:rPr lang="en-US" sz="1800" b="1" dirty="0">
                <a:latin typeface="Arial" panose="020B0604020202020204" pitchFamily="34" charset="0"/>
                <a:cs typeface="Arial" panose="020B0604020202020204" pitchFamily="34" charset="0"/>
              </a:rPr>
              <a:t>9. Future Enhancement Layer</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Focus Areas:</a:t>
            </a:r>
            <a:endParaRPr lang="en-US" sz="18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Hybrid model development.</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Incorporation of additional data sources.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Use of explainable AI techniques for better interpretability.</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4170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4EA3FA-B786-84E5-1CBF-C5D89B8E69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553" y="1510747"/>
            <a:ext cx="11248893" cy="4638933"/>
          </a:xfrm>
        </p:spPr>
      </p:pic>
      <p:sp>
        <p:nvSpPr>
          <p:cNvPr id="6" name="TextBox 5">
            <a:extLst>
              <a:ext uri="{FF2B5EF4-FFF2-40B4-BE49-F238E27FC236}">
                <a16:creationId xmlns:a16="http://schemas.microsoft.com/office/drawing/2014/main" id="{C0517AD3-40C6-311D-F65B-3816CA324D70}"/>
              </a:ext>
            </a:extLst>
          </p:cNvPr>
          <p:cNvSpPr txBox="1"/>
          <p:nvPr/>
        </p:nvSpPr>
        <p:spPr>
          <a:xfrm>
            <a:off x="2767053" y="235225"/>
            <a:ext cx="8050696" cy="707886"/>
          </a:xfrm>
          <a:prstGeom prst="rect">
            <a:avLst/>
          </a:prstGeom>
          <a:noFill/>
        </p:spPr>
        <p:txBody>
          <a:bodyPr wrap="square" rtlCol="0">
            <a:spAutoFit/>
          </a:bodyPr>
          <a:lstStyle/>
          <a:p>
            <a:r>
              <a:rPr lang="en-IN" sz="4000" dirty="0">
                <a:solidFill>
                  <a:schemeClr val="accent1">
                    <a:lumMod val="75000"/>
                  </a:schemeClr>
                </a:solidFill>
                <a:latin typeface="EB Garamond SemiBold" panose="00000700000000000000" pitchFamily="2" charset="0"/>
                <a:ea typeface="EB Garamond SemiBold" panose="00000700000000000000" pitchFamily="2" charset="0"/>
              </a:rPr>
              <a:t>ARCHITECTURE DIAGRAM:</a:t>
            </a:r>
          </a:p>
        </p:txBody>
      </p:sp>
    </p:spTree>
    <p:extLst>
      <p:ext uri="{BB962C8B-B14F-4D97-AF65-F5344CB8AC3E}">
        <p14:creationId xmlns:p14="http://schemas.microsoft.com/office/powerpoint/2010/main" val="3039930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14CD2-F038-32A5-7DE6-1CD777F43F74}"/>
              </a:ext>
            </a:extLst>
          </p:cNvPr>
          <p:cNvSpPr>
            <a:spLocks noGrp="1"/>
          </p:cNvSpPr>
          <p:nvPr>
            <p:ph type="title"/>
          </p:nvPr>
        </p:nvSpPr>
        <p:spPr>
          <a:xfrm>
            <a:off x="776225" y="468520"/>
            <a:ext cx="10018713" cy="1816768"/>
          </a:xfrm>
        </p:spPr>
        <p:txBody>
          <a:bodyPr>
            <a:normAutofit fontScale="90000"/>
          </a:bodyPr>
          <a:lstStyle/>
          <a:p>
            <a:pPr marL="0" indent="0"/>
            <a:r>
              <a:rPr lang="en-IN" dirty="0">
                <a:latin typeface="EB Garamond SemiBold" panose="00000700000000000000" pitchFamily="2" charset="0"/>
                <a:ea typeface="EB Garamond SemiBold" panose="00000700000000000000" pitchFamily="2" charset="0"/>
              </a:rPr>
              <a:t>PERFORMANCE MEASURES </a:t>
            </a:r>
            <a:br>
              <a:rPr lang="en-IN" dirty="0"/>
            </a:br>
            <a:br>
              <a:rPr lang="en-IN" dirty="0"/>
            </a:br>
            <a:r>
              <a:rPr lang="en-US" sz="3100" strike="noStrike" spc="-1" dirty="0">
                <a:solidFill>
                  <a:srgbClr val="000000"/>
                </a:solidFill>
                <a:latin typeface="Proxima Nova"/>
                <a:ea typeface="Proxima Nova"/>
              </a:rPr>
              <a:t>Performance measures utilized for evaluation of the following:</a:t>
            </a:r>
            <a:br>
              <a:rPr lang="en-US" sz="3100" strike="noStrike" spc="-1" dirty="0">
                <a:solidFill>
                  <a:srgbClr val="000000"/>
                </a:solidFill>
                <a:latin typeface="Proxima Nova"/>
                <a:ea typeface="Proxima Nova"/>
              </a:rPr>
            </a:br>
            <a:br>
              <a:rPr lang="en-US" sz="4000" strike="noStrike" spc="-1" dirty="0">
                <a:solidFill>
                  <a:srgbClr val="000000"/>
                </a:solidFill>
                <a:latin typeface="Proxima Nova"/>
                <a:ea typeface="Proxima Nova"/>
              </a:rPr>
            </a:br>
            <a:endParaRPr lang="en-IN" dirty="0"/>
          </a:p>
        </p:txBody>
      </p:sp>
      <p:sp>
        <p:nvSpPr>
          <p:cNvPr id="3" name="Content Placeholder 2">
            <a:extLst>
              <a:ext uri="{FF2B5EF4-FFF2-40B4-BE49-F238E27FC236}">
                <a16:creationId xmlns:a16="http://schemas.microsoft.com/office/drawing/2014/main" id="{D9FCDB88-5744-F735-1ED6-952CE6F047FF}"/>
              </a:ext>
            </a:extLst>
          </p:cNvPr>
          <p:cNvSpPr>
            <a:spLocks noGrp="1"/>
          </p:cNvSpPr>
          <p:nvPr>
            <p:ph idx="1"/>
          </p:nvPr>
        </p:nvSpPr>
        <p:spPr>
          <a:xfrm>
            <a:off x="1020106" y="1988697"/>
            <a:ext cx="10684876" cy="4471738"/>
          </a:xfrm>
        </p:spPr>
        <p:txBody>
          <a:bodyPr>
            <a:normAutofit/>
          </a:bodyPr>
          <a:lstStyle/>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Prediction of PTSD Severity:</a:t>
            </a: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performance measures assess the model's ability to accurately classify PTSD severity levels (e.g., High, Medium, Low) based on input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Model Comparisons:</a:t>
            </a: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Performance metrics allow for comparing different models (e.g., Logistic Regression, Random Forest, SVM) to determine which performs best for your dataset.</a:t>
            </a:r>
          </a:p>
          <a:p>
            <a:pPr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Feature Impact:</a:t>
            </a: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Indirectly, evaluation metrics can reflect how well the selected features contribute to accurate predictions.</a:t>
            </a:r>
          </a:p>
          <a:p>
            <a:endParaRPr lang="en-IN" dirty="0"/>
          </a:p>
        </p:txBody>
      </p:sp>
    </p:spTree>
    <p:extLst>
      <p:ext uri="{BB962C8B-B14F-4D97-AF65-F5344CB8AC3E}">
        <p14:creationId xmlns:p14="http://schemas.microsoft.com/office/powerpoint/2010/main" val="901223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4948-D5E7-2DE3-097F-D72039C899FE}"/>
              </a:ext>
            </a:extLst>
          </p:cNvPr>
          <p:cNvSpPr>
            <a:spLocks noGrp="1"/>
          </p:cNvSpPr>
          <p:nvPr>
            <p:ph type="title"/>
          </p:nvPr>
        </p:nvSpPr>
        <p:spPr>
          <a:xfrm>
            <a:off x="1316671" y="198121"/>
            <a:ext cx="10018713" cy="64008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94882D5-5D31-A9A3-7066-083D4603EBFD}"/>
              </a:ext>
            </a:extLst>
          </p:cNvPr>
          <p:cNvSpPr>
            <a:spLocks noGrp="1"/>
          </p:cNvSpPr>
          <p:nvPr>
            <p:ph idx="1"/>
          </p:nvPr>
        </p:nvSpPr>
        <p:spPr>
          <a:xfrm>
            <a:off x="1316670" y="1280160"/>
            <a:ext cx="10018713" cy="1554480"/>
          </a:xfrm>
        </p:spPr>
        <p:txBody>
          <a:bodyPr>
            <a:normAutofit/>
          </a:bodyPr>
          <a:lstStyle/>
          <a:p>
            <a:pPr marL="0" indent="0">
              <a:buNone/>
            </a:pPr>
            <a:endParaRPr lang="en-US" sz="2400" strike="noStrike" spc="-1" dirty="0">
              <a:solidFill>
                <a:srgbClr val="000000"/>
              </a:solidFill>
              <a:latin typeface="Proxima Nova"/>
              <a:ea typeface="Proxima Nova"/>
            </a:endParaRPr>
          </a:p>
          <a:p>
            <a:pPr marL="0" indent="0">
              <a:buNone/>
            </a:pPr>
            <a:endParaRPr lang="en-US" sz="2400" strike="noStrike" spc="-1" dirty="0">
              <a:solidFill>
                <a:srgbClr val="000000"/>
              </a:solidFill>
              <a:latin typeface="Proxima Nova"/>
              <a:ea typeface="Proxima Nova"/>
            </a:endParaRPr>
          </a:p>
          <a:p>
            <a:pPr marL="0" indent="0">
              <a:buNone/>
            </a:pPr>
            <a:endParaRPr lang="en-US" spc="-1" dirty="0">
              <a:solidFill>
                <a:srgbClr val="000000"/>
              </a:solidFill>
              <a:latin typeface="Proxima Nova"/>
              <a:ea typeface="Proxima Nova"/>
            </a:endParaRPr>
          </a:p>
          <a:p>
            <a:pPr marL="0" indent="0">
              <a:buNone/>
            </a:pPr>
            <a:endParaRPr lang="en-US" sz="2400" strike="noStrike" spc="-1" dirty="0">
              <a:solidFill>
                <a:srgbClr val="000000"/>
              </a:solidFill>
              <a:latin typeface="Proxima Nova"/>
              <a:ea typeface="Proxima Nova"/>
            </a:endParaRPr>
          </a:p>
          <a:p>
            <a:pPr marL="0" indent="0">
              <a:buNone/>
            </a:pPr>
            <a:endParaRPr lang="en-IN" dirty="0"/>
          </a:p>
          <a:p>
            <a:pPr marL="0" indent="0">
              <a:buNone/>
            </a:pPr>
            <a:endParaRPr lang="en-IN" dirty="0"/>
          </a:p>
        </p:txBody>
      </p:sp>
      <p:sp>
        <p:nvSpPr>
          <p:cNvPr id="4" name="Rectangle 1">
            <a:extLst>
              <a:ext uri="{FF2B5EF4-FFF2-40B4-BE49-F238E27FC236}">
                <a16:creationId xmlns:a16="http://schemas.microsoft.com/office/drawing/2014/main" id="{B93AA14A-DD25-D0F8-49E9-FCC780FBA414}"/>
              </a:ext>
            </a:extLst>
          </p:cNvPr>
          <p:cNvSpPr>
            <a:spLocks noChangeArrowheads="1"/>
          </p:cNvSpPr>
          <p:nvPr/>
        </p:nvSpPr>
        <p:spPr bwMode="auto">
          <a:xfrm>
            <a:off x="1316670" y="887524"/>
            <a:ext cx="1074204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Accuracy: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Evaluates the proportion of correctly classified instances (e.g., severity levels: High/Medium/Low).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Suitable for</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overall performance comparison across models.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Precision: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Measures how many predicted positive cases were actual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if the focus is on minimizing false positives (e.g., ensuring accurate high-risk PTSD predictions).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Recall (Sensitivity):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Measures how many actual positive cases were correctly predicted.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Crucial for identifying all cases of high-severity PTSD (reducing false negatives).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Google Shape;711;p13">
            <a:extLst>
              <a:ext uri="{FF2B5EF4-FFF2-40B4-BE49-F238E27FC236}">
                <a16:creationId xmlns:a16="http://schemas.microsoft.com/office/drawing/2014/main" id="{E0EB672F-35E4-0548-0C62-00874A2418CD}"/>
              </a:ext>
            </a:extLst>
          </p:cNvPr>
          <p:cNvPicPr/>
          <p:nvPr/>
        </p:nvPicPr>
        <p:blipFill>
          <a:blip r:embed="rId2"/>
          <a:stretch/>
        </p:blipFill>
        <p:spPr>
          <a:xfrm>
            <a:off x="4505700" y="2292480"/>
            <a:ext cx="3180600" cy="542160"/>
          </a:xfrm>
          <a:prstGeom prst="rect">
            <a:avLst/>
          </a:prstGeom>
          <a:ln w="0">
            <a:noFill/>
          </a:ln>
        </p:spPr>
      </p:pic>
      <p:pic>
        <p:nvPicPr>
          <p:cNvPr id="6" name="Google Shape;712;p13">
            <a:extLst>
              <a:ext uri="{FF2B5EF4-FFF2-40B4-BE49-F238E27FC236}">
                <a16:creationId xmlns:a16="http://schemas.microsoft.com/office/drawing/2014/main" id="{3CCC0893-4D4F-3730-2482-05A58176EE91}"/>
              </a:ext>
            </a:extLst>
          </p:cNvPr>
          <p:cNvPicPr/>
          <p:nvPr/>
        </p:nvPicPr>
        <p:blipFill>
          <a:blip r:embed="rId3"/>
          <a:stretch/>
        </p:blipFill>
        <p:spPr>
          <a:xfrm>
            <a:off x="5072340" y="4023361"/>
            <a:ext cx="2047320" cy="542160"/>
          </a:xfrm>
          <a:prstGeom prst="rect">
            <a:avLst/>
          </a:prstGeom>
          <a:ln w="0">
            <a:noFill/>
          </a:ln>
        </p:spPr>
      </p:pic>
      <p:pic>
        <p:nvPicPr>
          <p:cNvPr id="7" name="Google Shape;720;p14">
            <a:extLst>
              <a:ext uri="{FF2B5EF4-FFF2-40B4-BE49-F238E27FC236}">
                <a16:creationId xmlns:a16="http://schemas.microsoft.com/office/drawing/2014/main" id="{18CF218E-76CF-4AAB-F866-13A171DD24CA}"/>
              </a:ext>
            </a:extLst>
          </p:cNvPr>
          <p:cNvPicPr/>
          <p:nvPr/>
        </p:nvPicPr>
        <p:blipFill>
          <a:blip r:embed="rId4"/>
          <a:stretch/>
        </p:blipFill>
        <p:spPr>
          <a:xfrm>
            <a:off x="5072340" y="5871136"/>
            <a:ext cx="2346840" cy="644040"/>
          </a:xfrm>
          <a:prstGeom prst="rect">
            <a:avLst/>
          </a:prstGeom>
          <a:ln w="0">
            <a:noFill/>
          </a:ln>
        </p:spPr>
      </p:pic>
    </p:spTree>
    <p:extLst>
      <p:ext uri="{BB962C8B-B14F-4D97-AF65-F5344CB8AC3E}">
        <p14:creationId xmlns:p14="http://schemas.microsoft.com/office/powerpoint/2010/main" val="3786029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EEB9F-FC33-463A-0E06-F58F71D46DB2}"/>
              </a:ext>
            </a:extLst>
          </p:cNvPr>
          <p:cNvSpPr>
            <a:spLocks noGrp="1"/>
          </p:cNvSpPr>
          <p:nvPr>
            <p:ph idx="1"/>
          </p:nvPr>
        </p:nvSpPr>
        <p:spPr>
          <a:xfrm>
            <a:off x="645968" y="555238"/>
            <a:ext cx="10018713" cy="3124201"/>
          </a:xfrm>
        </p:spPr>
        <p:txBody>
          <a:bodyPr>
            <a:no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F1-Score: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Harmonic mean of Precision and Recall.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Useful when there is a class imbalance (e.g., if one PTSD severity class dominates the dataset).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Confusion Matrix:</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Provides a breakdown of true positives, true negatives, false positives, and false negatives for each class.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Helps identify which classes are misclassified and where improvements are needed.</a:t>
            </a:r>
          </a:p>
          <a:p>
            <a:pPr marL="0" indent="0">
              <a:buNone/>
            </a:pPr>
            <a:endParaRPr lang="en-IN" sz="2000" dirty="0"/>
          </a:p>
        </p:txBody>
      </p:sp>
      <p:pic>
        <p:nvPicPr>
          <p:cNvPr id="4" name="Google Shape;721;p14">
            <a:extLst>
              <a:ext uri="{FF2B5EF4-FFF2-40B4-BE49-F238E27FC236}">
                <a16:creationId xmlns:a16="http://schemas.microsoft.com/office/drawing/2014/main" id="{B4E8E3A6-DC23-3991-7E1D-3709AE29903B}"/>
              </a:ext>
            </a:extLst>
          </p:cNvPr>
          <p:cNvPicPr/>
          <p:nvPr/>
        </p:nvPicPr>
        <p:blipFill>
          <a:blip r:embed="rId2"/>
          <a:stretch/>
        </p:blipFill>
        <p:spPr>
          <a:xfrm>
            <a:off x="4352441" y="1739652"/>
            <a:ext cx="2847240" cy="465840"/>
          </a:xfrm>
          <a:prstGeom prst="rect">
            <a:avLst/>
          </a:prstGeom>
          <a:ln w="0">
            <a:noFill/>
          </a:ln>
        </p:spPr>
      </p:pic>
      <p:pic>
        <p:nvPicPr>
          <p:cNvPr id="8194" name="Picture 2">
            <a:extLst>
              <a:ext uri="{FF2B5EF4-FFF2-40B4-BE49-F238E27FC236}">
                <a16:creationId xmlns:a16="http://schemas.microsoft.com/office/drawing/2014/main" id="{89CBA25F-B7E1-C7BF-6BDC-747CD0708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3138" y="4145280"/>
            <a:ext cx="4820102" cy="2712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594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3F9F8-CFF1-AC0A-116F-D0476CBFDBA6}"/>
              </a:ext>
            </a:extLst>
          </p:cNvPr>
          <p:cNvSpPr>
            <a:spLocks noGrp="1"/>
          </p:cNvSpPr>
          <p:nvPr>
            <p:ph type="title"/>
          </p:nvPr>
        </p:nvSpPr>
        <p:spPr/>
        <p:txBody>
          <a:bodyPr/>
          <a:lstStyle/>
          <a:p>
            <a:r>
              <a:rPr lang="en-IN" dirty="0">
                <a:latin typeface="EB Garamond SemiBold" panose="00000700000000000000" pitchFamily="2" charset="0"/>
                <a:ea typeface="EB Garamond SemiBold" panose="00000700000000000000" pitchFamily="2" charset="0"/>
              </a:rPr>
              <a:t>ALGORITHMS USED &amp; ACCURACY:</a:t>
            </a:r>
          </a:p>
        </p:txBody>
      </p:sp>
      <p:pic>
        <p:nvPicPr>
          <p:cNvPr id="5122" name="Picture 2">
            <a:extLst>
              <a:ext uri="{FF2B5EF4-FFF2-40B4-BE49-F238E27FC236}">
                <a16:creationId xmlns:a16="http://schemas.microsoft.com/office/drawing/2014/main" id="{6EF01127-73DB-3CEF-E5AA-AA0559AF5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673" y="1339083"/>
            <a:ext cx="9371967" cy="5324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322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BBFD-49D0-25C9-3AE7-C54A9FDAB284}"/>
              </a:ext>
            </a:extLst>
          </p:cNvPr>
          <p:cNvSpPr>
            <a:spLocks noGrp="1"/>
          </p:cNvSpPr>
          <p:nvPr>
            <p:ph type="title"/>
          </p:nvPr>
        </p:nvSpPr>
        <p:spPr>
          <a:xfrm>
            <a:off x="4082001" y="-184309"/>
            <a:ext cx="10018713" cy="1752599"/>
          </a:xfrm>
        </p:spPr>
        <p:txBody>
          <a:bodyPr>
            <a:normAutofit/>
          </a:bodyPr>
          <a:lstStyle/>
          <a:p>
            <a:r>
              <a:rPr lang="en-IN" sz="4000" dirty="0">
                <a:latin typeface="EB Garamond SemiBold" panose="00000700000000000000" pitchFamily="2" charset="0"/>
                <a:ea typeface="EB Garamond SemiBold" panose="00000700000000000000" pitchFamily="2" charset="0"/>
              </a:rPr>
              <a:t>REFERENCES</a:t>
            </a:r>
          </a:p>
        </p:txBody>
      </p:sp>
      <p:sp>
        <p:nvSpPr>
          <p:cNvPr id="4" name="Rectangle 1">
            <a:extLst>
              <a:ext uri="{FF2B5EF4-FFF2-40B4-BE49-F238E27FC236}">
                <a16:creationId xmlns:a16="http://schemas.microsoft.com/office/drawing/2014/main" id="{54114AB7-5389-A021-4D1C-24D0B068FD2C}"/>
              </a:ext>
            </a:extLst>
          </p:cNvPr>
          <p:cNvSpPr>
            <a:spLocks noGrp="1" noChangeArrowheads="1"/>
          </p:cNvSpPr>
          <p:nvPr>
            <p:ph idx="1"/>
          </p:nvPr>
        </p:nvSpPr>
        <p:spPr bwMode="auto">
          <a:xfrm>
            <a:off x="649288" y="1153152"/>
            <a:ext cx="10668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effectLst/>
                <a:latin typeface="Arial" panose="020B0604020202020204" pitchFamily="34" charset="0"/>
                <a:cs typeface="Arial" panose="020B0604020202020204" pitchFamily="34" charset="0"/>
              </a:rPr>
              <a:t>Biscoe, N., New, E. &amp; Murphy, D. Complex PTSD symptom clusters and executive function in UK Armed Forces veterans: a cross-sectional study. </a:t>
            </a:r>
            <a:r>
              <a:rPr lang="en-IN" sz="1800" b="0" i="1" dirty="0">
                <a:effectLst/>
                <a:latin typeface="Arial" panose="020B0604020202020204" pitchFamily="34" charset="0"/>
                <a:cs typeface="Arial" panose="020B0604020202020204" pitchFamily="34" charset="0"/>
              </a:rPr>
              <a:t>BMC </a:t>
            </a:r>
            <a:r>
              <a:rPr lang="en-IN" sz="1800" b="0" i="1" dirty="0" err="1">
                <a:effectLst/>
                <a:latin typeface="Arial" panose="020B0604020202020204" pitchFamily="34" charset="0"/>
                <a:cs typeface="Arial" panose="020B0604020202020204" pitchFamily="34" charset="0"/>
              </a:rPr>
              <a:t>Psychol</a:t>
            </a:r>
            <a:r>
              <a:rPr lang="en-IN" sz="1800" b="0" i="0" dirty="0">
                <a:effectLst/>
                <a:latin typeface="Arial" panose="020B0604020202020204" pitchFamily="34" charset="0"/>
                <a:cs typeface="Arial" panose="020B0604020202020204" pitchFamily="34" charset="0"/>
              </a:rPr>
              <a:t> </a:t>
            </a:r>
            <a:r>
              <a:rPr lang="en-IN" sz="1800" b="1" i="0" dirty="0">
                <a:effectLst/>
                <a:latin typeface="Arial" panose="020B0604020202020204" pitchFamily="34" charset="0"/>
                <a:cs typeface="Arial" panose="020B0604020202020204" pitchFamily="34" charset="0"/>
              </a:rPr>
              <a:t>12</a:t>
            </a:r>
            <a:r>
              <a:rPr lang="en-IN" sz="1800" b="0" i="0" dirty="0">
                <a:effectLst/>
                <a:latin typeface="Arial" panose="020B0604020202020204" pitchFamily="34" charset="0"/>
                <a:cs typeface="Arial" panose="020B0604020202020204" pitchFamily="34" charset="0"/>
              </a:rPr>
              <a:t>, 209 (2024). </a:t>
            </a:r>
            <a:r>
              <a:rPr lang="en-IN" sz="1800" b="0" i="0" dirty="0">
                <a:effectLst/>
                <a:latin typeface="Arial" panose="020B0604020202020204" pitchFamily="34" charset="0"/>
                <a:cs typeface="Arial" panose="020B0604020202020204" pitchFamily="34" charset="0"/>
                <a:hlinkClick r:id="rId2"/>
              </a:rPr>
              <a:t>https://doi.org/10.1186/s40359-024-01713-w</a:t>
            </a:r>
            <a:endParaRPr lang="en-IN" sz="1800" b="0" i="0" dirty="0">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SzTx/>
              <a:buNone/>
              <a:tabLst/>
            </a:pPr>
            <a:endParaRPr kumimoji="0" lang="en-US" altLang="en-US" sz="1800" b="0" i="0" u="none" strike="noStrike" cap="none" normalizeH="0" baseline="0" dirty="0">
              <a:ln>
                <a:noFill/>
              </a:ln>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Scott JC, Matt GE, </a:t>
            </a:r>
            <a:r>
              <a:rPr lang="en-IN" sz="1800" b="0" i="0" dirty="0" err="1">
                <a:solidFill>
                  <a:srgbClr val="000000"/>
                </a:solidFill>
                <a:effectLst/>
                <a:latin typeface="Arial" panose="020B0604020202020204" pitchFamily="34" charset="0"/>
                <a:cs typeface="Arial" panose="020B0604020202020204" pitchFamily="34" charset="0"/>
              </a:rPr>
              <a:t>Wrocklage</a:t>
            </a:r>
            <a:r>
              <a:rPr lang="en-IN" sz="1800" b="0" i="0" dirty="0">
                <a:solidFill>
                  <a:srgbClr val="000000"/>
                </a:solidFill>
                <a:effectLst/>
                <a:latin typeface="Arial" panose="020B0604020202020204" pitchFamily="34" charset="0"/>
                <a:cs typeface="Arial" panose="020B0604020202020204" pitchFamily="34" charset="0"/>
              </a:rPr>
              <a:t> KM, </a:t>
            </a:r>
            <a:r>
              <a:rPr lang="en-IN" sz="1800" b="0" i="0" dirty="0" err="1">
                <a:solidFill>
                  <a:srgbClr val="000000"/>
                </a:solidFill>
                <a:effectLst/>
                <a:latin typeface="Arial" panose="020B0604020202020204" pitchFamily="34" charset="0"/>
                <a:cs typeface="Arial" panose="020B0604020202020204" pitchFamily="34" charset="0"/>
              </a:rPr>
              <a:t>Crnich</a:t>
            </a:r>
            <a:r>
              <a:rPr lang="en-IN" sz="1800" b="0" i="0" dirty="0">
                <a:solidFill>
                  <a:srgbClr val="000000"/>
                </a:solidFill>
                <a:effectLst/>
                <a:latin typeface="Arial" panose="020B0604020202020204" pitchFamily="34" charset="0"/>
                <a:cs typeface="Arial" panose="020B0604020202020204" pitchFamily="34" charset="0"/>
              </a:rPr>
              <a:t> C, Jordan J, Southwick SM, et al. A quantitative meta-analysis of neurocognitive functioning in posttraumatic stress disorder. </a:t>
            </a:r>
            <a:r>
              <a:rPr lang="en-IN" sz="1800" b="0" i="0" dirty="0" err="1">
                <a:solidFill>
                  <a:srgbClr val="000000"/>
                </a:solidFill>
                <a:effectLst/>
                <a:latin typeface="Arial" panose="020B0604020202020204" pitchFamily="34" charset="0"/>
                <a:cs typeface="Arial" panose="020B0604020202020204" pitchFamily="34" charset="0"/>
              </a:rPr>
              <a:t>Psychol</a:t>
            </a:r>
            <a:r>
              <a:rPr lang="en-IN" sz="1800" b="0" i="0" dirty="0">
                <a:solidFill>
                  <a:srgbClr val="000000"/>
                </a:solidFill>
                <a:effectLst/>
                <a:latin typeface="Arial" panose="020B0604020202020204" pitchFamily="34" charset="0"/>
                <a:cs typeface="Arial" panose="020B0604020202020204" pitchFamily="34" charset="0"/>
              </a:rPr>
              <a:t> Bull. 2015;141(1):105–40.</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US" sz="1800" b="0" i="0" dirty="0">
                <a:solidFill>
                  <a:srgbClr val="212121"/>
                </a:solidFill>
                <a:effectLst/>
                <a:latin typeface="Arial" panose="020B0604020202020204" pitchFamily="34" charset="0"/>
                <a:cs typeface="Arial" panose="020B0604020202020204" pitchFamily="34" charset="0"/>
              </a:rPr>
              <a:t>Murphy D, Busuttil W. Understanding the needs of veterans seeking support for mental health difficulties. BMJ Mil Health. 2020 Aug;166(4):211-213. </a:t>
            </a:r>
            <a:r>
              <a:rPr lang="en-US" sz="1800" b="0" i="0" dirty="0" err="1">
                <a:solidFill>
                  <a:srgbClr val="212121"/>
                </a:solidFill>
                <a:effectLst/>
                <a:latin typeface="Arial" panose="020B0604020202020204" pitchFamily="34" charset="0"/>
                <a:cs typeface="Arial" panose="020B0604020202020204" pitchFamily="34" charset="0"/>
              </a:rPr>
              <a:t>doi</a:t>
            </a:r>
            <a:r>
              <a:rPr lang="en-US" sz="1800" b="0" i="0" dirty="0">
                <a:solidFill>
                  <a:srgbClr val="212121"/>
                </a:solidFill>
                <a:effectLst/>
                <a:latin typeface="Arial" panose="020B0604020202020204" pitchFamily="34" charset="0"/>
                <a:cs typeface="Arial" panose="020B0604020202020204" pitchFamily="34" charset="0"/>
              </a:rPr>
              <a:t>: 10.1136/jramc-2019-001204. </a:t>
            </a:r>
            <a:r>
              <a:rPr lang="en-US" sz="1800" b="0" i="0" dirty="0" err="1">
                <a:solidFill>
                  <a:srgbClr val="212121"/>
                </a:solidFill>
                <a:effectLst/>
                <a:latin typeface="Arial" panose="020B0604020202020204" pitchFamily="34" charset="0"/>
                <a:cs typeface="Arial" panose="020B0604020202020204" pitchFamily="34" charset="0"/>
              </a:rPr>
              <a:t>Epub</a:t>
            </a:r>
            <a:r>
              <a:rPr lang="en-US" sz="1800" b="0" i="0" dirty="0">
                <a:solidFill>
                  <a:srgbClr val="212121"/>
                </a:solidFill>
                <a:effectLst/>
                <a:latin typeface="Arial" panose="020B0604020202020204" pitchFamily="34" charset="0"/>
                <a:cs typeface="Arial" panose="020B0604020202020204" pitchFamily="34" charset="0"/>
              </a:rPr>
              <a:t> 2019 Apr 29. PMID: 31036746.</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 Murphy D, </a:t>
            </a:r>
            <a:r>
              <a:rPr lang="en-IN" sz="1800" b="0" i="0" dirty="0" err="1">
                <a:solidFill>
                  <a:srgbClr val="000000"/>
                </a:solidFill>
                <a:effectLst/>
                <a:latin typeface="Arial" panose="020B0604020202020204" pitchFamily="34" charset="0"/>
                <a:cs typeface="Arial" panose="020B0604020202020204" pitchFamily="34" charset="0"/>
              </a:rPr>
              <a:t>Karatzias</a:t>
            </a:r>
            <a:r>
              <a:rPr lang="en-IN" sz="1800" b="0" i="0" dirty="0">
                <a:solidFill>
                  <a:srgbClr val="000000"/>
                </a:solidFill>
                <a:effectLst/>
                <a:latin typeface="Arial" panose="020B0604020202020204" pitchFamily="34" charset="0"/>
                <a:cs typeface="Arial" panose="020B0604020202020204" pitchFamily="34" charset="0"/>
              </a:rPr>
              <a:t> T, Busuttil W, Greenberg N, Shevlin M. ICD-11 </a:t>
            </a:r>
            <a:r>
              <a:rPr lang="en-IN" sz="1800" b="0" i="0" dirty="0" err="1">
                <a:solidFill>
                  <a:srgbClr val="000000"/>
                </a:solidFill>
                <a:effectLst/>
                <a:latin typeface="Arial" panose="020B0604020202020204" pitchFamily="34" charset="0"/>
                <a:cs typeface="Arial" panose="020B0604020202020204" pitchFamily="34" charset="0"/>
              </a:rPr>
              <a:t>posttrau-matic</a:t>
            </a:r>
            <a:r>
              <a:rPr lang="en-IN" sz="1800" b="0" i="0" dirty="0">
                <a:solidFill>
                  <a:srgbClr val="000000"/>
                </a:solidFill>
                <a:effectLst/>
                <a:latin typeface="Arial" panose="020B0604020202020204" pitchFamily="34" charset="0"/>
                <a:cs typeface="Arial" panose="020B0604020202020204" pitchFamily="34" charset="0"/>
              </a:rPr>
              <a:t> stress disorder (PTSD) and complex PTSD (CPTSD) in treatment seeking veterans: risk factors and comorbidity. Soc Psychiatry </a:t>
            </a:r>
            <a:r>
              <a:rPr lang="en-IN" sz="1800" b="0" i="0" dirty="0" err="1">
                <a:solidFill>
                  <a:srgbClr val="000000"/>
                </a:solidFill>
                <a:effectLst/>
                <a:latin typeface="Arial" panose="020B0604020202020204" pitchFamily="34" charset="0"/>
                <a:cs typeface="Arial" panose="020B0604020202020204" pitchFamily="34" charset="0"/>
              </a:rPr>
              <a:t>Psychiatr</a:t>
            </a:r>
            <a:r>
              <a:rPr lang="en-IN" sz="1800" b="0" i="0" dirty="0">
                <a:solidFill>
                  <a:srgbClr val="000000"/>
                </a:solidFill>
                <a:effectLst/>
                <a:latin typeface="Arial" panose="020B0604020202020204" pitchFamily="34" charset="0"/>
                <a:cs typeface="Arial" panose="020B0604020202020204" pitchFamily="34" charset="0"/>
              </a:rPr>
              <a:t> </a:t>
            </a:r>
            <a:r>
              <a:rPr lang="en-IN" sz="1800" b="0" i="0" dirty="0" err="1">
                <a:solidFill>
                  <a:srgbClr val="000000"/>
                </a:solidFill>
                <a:effectLst/>
                <a:latin typeface="Arial" panose="020B0604020202020204" pitchFamily="34" charset="0"/>
                <a:cs typeface="Arial" panose="020B0604020202020204" pitchFamily="34" charset="0"/>
              </a:rPr>
              <a:t>Epidemiol</a:t>
            </a:r>
            <a:r>
              <a:rPr lang="en-IN" sz="1800" b="0" i="0" dirty="0">
                <a:solidFill>
                  <a:srgbClr val="000000"/>
                </a:solidFill>
                <a:effectLst/>
                <a:latin typeface="Arial" panose="020B0604020202020204" pitchFamily="34" charset="0"/>
                <a:cs typeface="Arial" panose="020B0604020202020204" pitchFamily="34" charset="0"/>
              </a:rPr>
              <a:t>. 2021;56(7):1289–98.</a:t>
            </a:r>
          </a:p>
          <a:p>
            <a:pPr marL="0" marR="0" lvl="0" indent="0" algn="l" defTabSz="914400" rtl="0" eaLnBrk="0" fontAlgn="base" latinLnBrk="0" hangingPunct="0">
              <a:lnSpc>
                <a:spcPct val="100000"/>
              </a:lnSpc>
              <a:spcBef>
                <a:spcPct val="0"/>
              </a:spcBef>
              <a:spcAft>
                <a:spcPct val="0"/>
              </a:spcAft>
              <a:buSzTx/>
              <a:buNone/>
              <a:tabLst/>
            </a:pPr>
            <a:endParaRPr lang="en-IN"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212121"/>
                </a:solidFill>
                <a:effectLst/>
                <a:latin typeface="Arial" panose="020B0604020202020204" pitchFamily="34" charset="0"/>
                <a:cs typeface="Arial" panose="020B0604020202020204" pitchFamily="34" charset="0"/>
              </a:rPr>
              <a:t>Reed DE 2nd, Fischer IC, Williams RM, Na PJ, Pietrzak RH. Co-occurring Chronic Pain and PTSD Among US Military Veterans: Prevalence, Correlates, and Functioning. J Gen Intern Med. 2024 Aug;39(11):2009-2016. </a:t>
            </a:r>
            <a:r>
              <a:rPr lang="en-IN" sz="1800" b="0" i="0" dirty="0" err="1">
                <a:solidFill>
                  <a:srgbClr val="212121"/>
                </a:solidFill>
                <a:effectLst/>
                <a:latin typeface="Arial" panose="020B0604020202020204" pitchFamily="34" charset="0"/>
                <a:cs typeface="Arial" panose="020B0604020202020204" pitchFamily="34" charset="0"/>
              </a:rPr>
              <a:t>doi</a:t>
            </a:r>
            <a:r>
              <a:rPr lang="en-IN" sz="1800" b="0" i="0" dirty="0">
                <a:solidFill>
                  <a:srgbClr val="212121"/>
                </a:solidFill>
                <a:effectLst/>
                <a:latin typeface="Arial" panose="020B0604020202020204" pitchFamily="34" charset="0"/>
                <a:cs typeface="Arial" panose="020B0604020202020204" pitchFamily="34" charset="0"/>
              </a:rPr>
              <a:t>: 10.1007/s11606-024-08803-w. </a:t>
            </a:r>
            <a:r>
              <a:rPr lang="en-IN" sz="1800" b="0" i="0" dirty="0" err="1">
                <a:solidFill>
                  <a:srgbClr val="212121"/>
                </a:solidFill>
                <a:effectLst/>
                <a:latin typeface="Arial" panose="020B0604020202020204" pitchFamily="34" charset="0"/>
                <a:cs typeface="Arial" panose="020B0604020202020204" pitchFamily="34" charset="0"/>
              </a:rPr>
              <a:t>Epub</a:t>
            </a:r>
            <a:r>
              <a:rPr lang="en-IN" sz="1800" b="0" i="0" dirty="0">
                <a:solidFill>
                  <a:srgbClr val="212121"/>
                </a:solidFill>
                <a:effectLst/>
                <a:latin typeface="Arial" panose="020B0604020202020204" pitchFamily="34" charset="0"/>
                <a:cs typeface="Arial" panose="020B0604020202020204" pitchFamily="34" charset="0"/>
              </a:rPr>
              <a:t> 2024 May 23. PMID: 38780882; PMCID: PMC11306465</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0917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C9C73-06C5-55AA-2F00-7C15E6D5C49E}"/>
              </a:ext>
            </a:extLst>
          </p:cNvPr>
          <p:cNvSpPr>
            <a:spLocks noGrp="1"/>
          </p:cNvSpPr>
          <p:nvPr>
            <p:ph idx="1"/>
          </p:nvPr>
        </p:nvSpPr>
        <p:spPr>
          <a:xfrm>
            <a:off x="350520" y="242252"/>
            <a:ext cx="11247120" cy="6007735"/>
          </a:xfrm>
        </p:spPr>
        <p:txBody>
          <a:bodyPr>
            <a:noAutofit/>
          </a:bodyPr>
          <a:lstStyle/>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I. Burnett-Zeigler et al., “Prevalence and correlates of alcohol misuse among returning Afghanistan and Iraq Veterans,” Addict. </a:t>
            </a:r>
            <a:r>
              <a:rPr lang="en-IN" sz="1800" b="0" i="0" dirty="0" err="1">
                <a:solidFill>
                  <a:srgbClr val="000000"/>
                </a:solidFill>
                <a:effectLst/>
                <a:latin typeface="Arial" panose="020B0604020202020204" pitchFamily="34" charset="0"/>
                <a:cs typeface="Arial" panose="020B0604020202020204" pitchFamily="34" charset="0"/>
              </a:rPr>
              <a:t>Behav</a:t>
            </a:r>
            <a:r>
              <a:rPr lang="en-IN" sz="1800" b="0" i="0" dirty="0">
                <a:solidFill>
                  <a:srgbClr val="000000"/>
                </a:solidFill>
                <a:effectLst/>
                <a:latin typeface="Arial" panose="020B0604020202020204" pitchFamily="34" charset="0"/>
                <a:cs typeface="Arial" panose="020B0604020202020204" pitchFamily="34" charset="0"/>
              </a:rPr>
              <a:t>., vol. 36, no. 8, pp. 801–806, 2011.</a:t>
            </a:r>
          </a:p>
          <a:p>
            <a:pPr marL="0" marR="0" lvl="0" indent="0" algn="l" defTabSz="914400" rtl="0" eaLnBrk="0" fontAlgn="base" latinLnBrk="0" hangingPunct="0">
              <a:lnSpc>
                <a:spcPct val="100000"/>
              </a:lnSpc>
              <a:spcBef>
                <a:spcPct val="0"/>
              </a:spcBef>
              <a:spcAft>
                <a:spcPct val="0"/>
              </a:spcAft>
              <a:buSzTx/>
              <a:buNone/>
              <a:tabLst/>
            </a:pPr>
            <a:endParaRPr lang="en-IN"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US" sz="1800" b="0" i="0" dirty="0">
                <a:solidFill>
                  <a:srgbClr val="000000"/>
                </a:solidFill>
                <a:effectLst/>
                <a:latin typeface="Arial" panose="020B0604020202020204" pitchFamily="34" charset="0"/>
                <a:cs typeface="Arial" panose="020B0604020202020204" pitchFamily="34" charset="0"/>
              </a:rPr>
              <a:t>J. M. Brown, J. Williams, R. M. Bray, and L. Hourani, “</a:t>
            </a:r>
            <a:r>
              <a:rPr lang="en-US" sz="1800" b="0" i="0" dirty="0" err="1">
                <a:solidFill>
                  <a:srgbClr val="000000"/>
                </a:solidFill>
                <a:effectLst/>
                <a:latin typeface="Arial" panose="020B0604020202020204" pitchFamily="34" charset="0"/>
                <a:cs typeface="Arial" panose="020B0604020202020204" pitchFamily="34" charset="0"/>
              </a:rPr>
              <a:t>Postdeployment</a:t>
            </a:r>
            <a:r>
              <a:rPr lang="en-US" sz="1800" b="0" i="0" dirty="0">
                <a:solidFill>
                  <a:srgbClr val="000000"/>
                </a:solidFill>
                <a:effectLst/>
                <a:latin typeface="Arial" panose="020B0604020202020204" pitchFamily="34" charset="0"/>
                <a:cs typeface="Arial" panose="020B0604020202020204" pitchFamily="34" charset="0"/>
              </a:rPr>
              <a:t> Alcohol Use, Aggression, and </a:t>
            </a:r>
            <a:r>
              <a:rPr lang="en-US" sz="1800" b="0" i="0" dirty="0" err="1">
                <a:solidFill>
                  <a:srgbClr val="000000"/>
                </a:solidFill>
                <a:effectLst/>
                <a:latin typeface="Arial" panose="020B0604020202020204" pitchFamily="34" charset="0"/>
                <a:cs typeface="Arial" panose="020B0604020202020204" pitchFamily="34" charset="0"/>
              </a:rPr>
              <a:t>PostTraumatic</a:t>
            </a:r>
            <a:r>
              <a:rPr lang="en-US" sz="1800" b="0" i="0" dirty="0">
                <a:solidFill>
                  <a:srgbClr val="000000"/>
                </a:solidFill>
                <a:effectLst/>
                <a:latin typeface="Arial" panose="020B0604020202020204" pitchFamily="34" charset="0"/>
                <a:cs typeface="Arial" panose="020B0604020202020204" pitchFamily="34" charset="0"/>
              </a:rPr>
              <a:t> Stress Disorder,” Mil. Med., vol. 177, no. 10, pp. 1184–1190, 2012. </a:t>
            </a: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endParaRPr lang="en-US"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Wortmann, Jennifer H. et al. 2016. “Psychometric Analysis of the PTSD Checklist-5 (PCL-5) among Treatment-Seeking Military Service Members.” Psychological Assessment 28(11): 1392–1403. </a:t>
            </a: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endParaRPr lang="en-IN"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K. </a:t>
            </a:r>
            <a:r>
              <a:rPr lang="en-IN" sz="1800" b="0" i="0" dirty="0" err="1">
                <a:solidFill>
                  <a:srgbClr val="000000"/>
                </a:solidFill>
                <a:effectLst/>
                <a:latin typeface="Arial" panose="020B0604020202020204" pitchFamily="34" charset="0"/>
                <a:cs typeface="Arial" panose="020B0604020202020204" pitchFamily="34" charset="0"/>
              </a:rPr>
              <a:t>Possemato</a:t>
            </a:r>
            <a:r>
              <a:rPr lang="en-IN" sz="1800" b="0" i="0" dirty="0">
                <a:solidFill>
                  <a:srgbClr val="000000"/>
                </a:solidFill>
                <a:effectLst/>
                <a:latin typeface="Arial" panose="020B0604020202020204" pitchFamily="34" charset="0"/>
                <a:cs typeface="Arial" panose="020B0604020202020204" pitchFamily="34" charset="0"/>
              </a:rPr>
              <a:t> et al., “Ecological Momentary Assessment of PTSD Symptoms and Alcohol Use in Combat Veterans,” Psychol. Addict. </a:t>
            </a:r>
            <a:r>
              <a:rPr lang="en-IN" sz="1800" b="0" i="0" dirty="0" err="1">
                <a:solidFill>
                  <a:srgbClr val="000000"/>
                </a:solidFill>
                <a:effectLst/>
                <a:latin typeface="Arial" panose="020B0604020202020204" pitchFamily="34" charset="0"/>
                <a:cs typeface="Arial" panose="020B0604020202020204" pitchFamily="34" charset="0"/>
              </a:rPr>
              <a:t>Behav</a:t>
            </a:r>
            <a:r>
              <a:rPr lang="en-IN" sz="1800" b="0" i="0" dirty="0">
                <a:solidFill>
                  <a:srgbClr val="000000"/>
                </a:solidFill>
                <a:effectLst/>
                <a:latin typeface="Arial" panose="020B0604020202020204" pitchFamily="34" charset="0"/>
                <a:cs typeface="Arial" panose="020B0604020202020204" pitchFamily="34" charset="0"/>
              </a:rPr>
              <a:t>., vol. 29, no. 4, pp. 894–905, 2015. </a:t>
            </a: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endParaRPr lang="en-IN"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US" sz="1800" b="0" i="0" dirty="0">
                <a:solidFill>
                  <a:srgbClr val="000000"/>
                </a:solidFill>
                <a:effectLst/>
                <a:latin typeface="Arial" panose="020B0604020202020204" pitchFamily="34" charset="0"/>
                <a:cs typeface="Arial" panose="020B0604020202020204" pitchFamily="34" charset="0"/>
              </a:rPr>
              <a:t>S. I. </a:t>
            </a:r>
            <a:r>
              <a:rPr lang="en-US" sz="1800" b="0" i="0" dirty="0" err="1">
                <a:solidFill>
                  <a:srgbClr val="000000"/>
                </a:solidFill>
                <a:effectLst/>
                <a:latin typeface="Arial" panose="020B0604020202020204" pitchFamily="34" charset="0"/>
                <a:cs typeface="Arial" panose="020B0604020202020204" pitchFamily="34" charset="0"/>
              </a:rPr>
              <a:t>Omurca</a:t>
            </a:r>
            <a:r>
              <a:rPr lang="en-US" sz="1800" b="0" i="0" dirty="0">
                <a:solidFill>
                  <a:srgbClr val="000000"/>
                </a:solidFill>
                <a:effectLst/>
                <a:latin typeface="Arial" panose="020B0604020202020204" pitchFamily="34" charset="0"/>
                <a:cs typeface="Arial" panose="020B0604020202020204" pitchFamily="34" charset="0"/>
              </a:rPr>
              <a:t> and E. </a:t>
            </a:r>
            <a:r>
              <a:rPr lang="en-US" sz="1800" b="0" i="0" dirty="0" err="1">
                <a:solidFill>
                  <a:srgbClr val="000000"/>
                </a:solidFill>
                <a:effectLst/>
                <a:latin typeface="Arial" panose="020B0604020202020204" pitchFamily="34" charset="0"/>
                <a:cs typeface="Arial" panose="020B0604020202020204" pitchFamily="34" charset="0"/>
              </a:rPr>
              <a:t>Ekinci</a:t>
            </a:r>
            <a:r>
              <a:rPr lang="en-US" sz="1800" b="0" i="0" dirty="0">
                <a:solidFill>
                  <a:srgbClr val="000000"/>
                </a:solidFill>
                <a:effectLst/>
                <a:latin typeface="Arial" panose="020B0604020202020204" pitchFamily="34" charset="0"/>
                <a:cs typeface="Arial" panose="020B0604020202020204" pitchFamily="34" charset="0"/>
              </a:rPr>
              <a:t>, “An alternative evaluation of post traumatic stress disorder with machine learning methods,” INISTA 2015 - 2015 Int. </a:t>
            </a:r>
            <a:r>
              <a:rPr lang="en-US" sz="1800" b="0" i="0" dirty="0" err="1">
                <a:solidFill>
                  <a:srgbClr val="000000"/>
                </a:solidFill>
                <a:effectLst/>
                <a:latin typeface="Arial" panose="020B0604020202020204" pitchFamily="34" charset="0"/>
                <a:cs typeface="Arial" panose="020B0604020202020204" pitchFamily="34" charset="0"/>
              </a:rPr>
              <a:t>Symp</a:t>
            </a:r>
            <a:r>
              <a:rPr lang="en-US" sz="1800" b="0" i="0" dirty="0">
                <a:solidFill>
                  <a:srgbClr val="000000"/>
                </a:solidFill>
                <a:effectLst/>
                <a:latin typeface="Arial" panose="020B0604020202020204" pitchFamily="34" charset="0"/>
                <a:cs typeface="Arial" panose="020B0604020202020204" pitchFamily="34" charset="0"/>
              </a:rPr>
              <a:t>. </a:t>
            </a:r>
            <a:r>
              <a:rPr lang="en-US" sz="1800" b="0" i="0" dirty="0" err="1">
                <a:solidFill>
                  <a:srgbClr val="000000"/>
                </a:solidFill>
                <a:effectLst/>
                <a:latin typeface="Arial" panose="020B0604020202020204" pitchFamily="34" charset="0"/>
                <a:cs typeface="Arial" panose="020B0604020202020204" pitchFamily="34" charset="0"/>
              </a:rPr>
              <a:t>Innov</a:t>
            </a:r>
            <a:r>
              <a:rPr lang="en-US" sz="1800" b="0" i="0" dirty="0">
                <a:solidFill>
                  <a:srgbClr val="000000"/>
                </a:solidFill>
                <a:effectLst/>
                <a:latin typeface="Arial" panose="020B0604020202020204" pitchFamily="34" charset="0"/>
                <a:cs typeface="Arial" panose="020B0604020202020204" pitchFamily="34" charset="0"/>
              </a:rPr>
              <a:t>. </a:t>
            </a:r>
            <a:r>
              <a:rPr lang="en-US" sz="1800" b="0" i="0" dirty="0" err="1">
                <a:solidFill>
                  <a:srgbClr val="000000"/>
                </a:solidFill>
                <a:effectLst/>
                <a:latin typeface="Arial" panose="020B0604020202020204" pitchFamily="34" charset="0"/>
                <a:cs typeface="Arial" panose="020B0604020202020204" pitchFamily="34" charset="0"/>
              </a:rPr>
              <a:t>Intell</a:t>
            </a:r>
            <a:r>
              <a:rPr lang="en-US" sz="1800" b="0" i="0" dirty="0">
                <a:solidFill>
                  <a:srgbClr val="000000"/>
                </a:solidFill>
                <a:effectLst/>
                <a:latin typeface="Arial" panose="020B0604020202020204" pitchFamily="34" charset="0"/>
                <a:cs typeface="Arial" panose="020B0604020202020204" pitchFamily="34" charset="0"/>
              </a:rPr>
              <a:t>. Syst. Appl. Proc., no. </a:t>
            </a:r>
            <a:r>
              <a:rPr lang="en-US" sz="1800" b="0" i="0" dirty="0" err="1">
                <a:solidFill>
                  <a:srgbClr val="000000"/>
                </a:solidFill>
                <a:effectLst/>
                <a:latin typeface="Arial" panose="020B0604020202020204" pitchFamily="34" charset="0"/>
                <a:cs typeface="Arial" panose="020B0604020202020204" pitchFamily="34" charset="0"/>
              </a:rPr>
              <a:t>Ml</a:t>
            </a:r>
            <a:r>
              <a:rPr lang="en-US" sz="1800" b="0" i="0" dirty="0">
                <a:solidFill>
                  <a:srgbClr val="000000"/>
                </a:solidFill>
                <a:effectLst/>
                <a:latin typeface="Arial" panose="020B0604020202020204" pitchFamily="34" charset="0"/>
                <a:cs typeface="Arial" panose="020B0604020202020204" pitchFamily="34" charset="0"/>
              </a:rPr>
              <a:t>, 2015.</a:t>
            </a:r>
          </a:p>
          <a:p>
            <a:pPr marL="0" marR="0" lvl="0" indent="0" algn="l" defTabSz="914400" rtl="0" eaLnBrk="0" fontAlgn="base" latinLnBrk="0" hangingPunct="0">
              <a:lnSpc>
                <a:spcPct val="100000"/>
              </a:lnSpc>
              <a:spcBef>
                <a:spcPct val="0"/>
              </a:spcBef>
              <a:spcAft>
                <a:spcPct val="0"/>
              </a:spcAft>
              <a:buSzTx/>
              <a:buNone/>
              <a:tabLst/>
            </a:pPr>
            <a:endParaRPr lang="en-IN" sz="1800" dirty="0">
              <a:solidFill>
                <a:srgbClr val="000000"/>
              </a:solidFill>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“NCCP | Adolescent Violence and Unintentional Injury in the United States.” [Online]. Available: http://www.nccp.org/publications/pub_890.html. [Accessed: 26-May-2020]. </a:t>
            </a: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endParaRPr lang="en-IN"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r>
              <a:rPr lang="en-IN" sz="1800" b="0" i="0" dirty="0">
                <a:solidFill>
                  <a:srgbClr val="000000"/>
                </a:solidFill>
                <a:effectLst/>
                <a:latin typeface="Arial" panose="020B0604020202020204" pitchFamily="34" charset="0"/>
                <a:cs typeface="Arial" panose="020B0604020202020204" pitchFamily="34" charset="0"/>
              </a:rPr>
              <a:t>D. Conybeare, E. Behar, A. Solomon, M. Newman and T. </a:t>
            </a:r>
            <a:r>
              <a:rPr lang="en-IN" sz="1800" b="0" i="0" dirty="0" err="1">
                <a:solidFill>
                  <a:srgbClr val="000000"/>
                </a:solidFill>
                <a:effectLst/>
                <a:latin typeface="Arial" panose="020B0604020202020204" pitchFamily="34" charset="0"/>
                <a:cs typeface="Arial" panose="020B0604020202020204" pitchFamily="34" charset="0"/>
              </a:rPr>
              <a:t>Borkovec</a:t>
            </a:r>
            <a:r>
              <a:rPr lang="en-IN" sz="1800" b="0" i="0" dirty="0">
                <a:solidFill>
                  <a:srgbClr val="000000"/>
                </a:solidFill>
                <a:effectLst/>
                <a:latin typeface="Arial" panose="020B0604020202020204" pitchFamily="34" charset="0"/>
                <a:cs typeface="Arial" panose="020B0604020202020204" pitchFamily="34" charset="0"/>
              </a:rPr>
              <a:t>, "The PTSD Checklist-Civilian Version: Reliability, Validity, and Factor Structure in a Nonclinical Sample", Journal of Clinical Psychology, vol. 68, no. 6, pp. 699-713, 2012.  </a:t>
            </a:r>
            <a:endParaRPr lang="en-US" sz="1800" b="0" i="0" dirty="0">
              <a:solidFill>
                <a:srgbClr val="000000"/>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Ø"/>
              <a:tabLst/>
            </a:pPr>
            <a:endParaRPr lang="en-IN" sz="2000" b="0" i="0" dirty="0">
              <a:solidFill>
                <a:srgbClr val="212121"/>
              </a:solidFill>
              <a:effectLst/>
              <a:latin typeface="Times" panose="02020603050405020304" pitchFamily="18" charset="0"/>
            </a:endParaRPr>
          </a:p>
          <a:p>
            <a:endParaRPr lang="en-IN" sz="2000" dirty="0"/>
          </a:p>
        </p:txBody>
      </p:sp>
    </p:spTree>
    <p:extLst>
      <p:ext uri="{BB962C8B-B14F-4D97-AF65-F5344CB8AC3E}">
        <p14:creationId xmlns:p14="http://schemas.microsoft.com/office/powerpoint/2010/main" val="3490344150"/>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000000"/>
      </a:lt1>
      <a:dk2>
        <a:srgbClr val="F8F8F8"/>
      </a:dk2>
      <a:lt2>
        <a:srgbClr val="F8F8F8"/>
      </a:lt2>
      <a:accent1>
        <a:srgbClr val="000000"/>
      </a:accent1>
      <a:accent2>
        <a:srgbClr val="000000"/>
      </a:accent2>
      <a:accent3>
        <a:srgbClr val="000000"/>
      </a:accent3>
      <a:accent4>
        <a:srgbClr val="000000"/>
      </a:accent4>
      <a:accent5>
        <a:srgbClr val="000000"/>
      </a:accent5>
      <a:accent6>
        <a:srgbClr val="4D4D4D"/>
      </a:accent6>
      <a:hlink>
        <a:srgbClr val="000000"/>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
  <TotalTime>1032</TotalTime>
  <Words>3805</Words>
  <Application>Microsoft Office PowerPoint</Application>
  <PresentationFormat>Widescreen</PresentationFormat>
  <Paragraphs>393</Paragraphs>
  <Slides>28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Calibri Light</vt:lpstr>
      <vt:lpstr>EB Garamond SemiBold</vt:lpstr>
      <vt:lpstr>Proxima Nova</vt:lpstr>
      <vt:lpstr>Times</vt:lpstr>
      <vt:lpstr>Times New Roman</vt:lpstr>
      <vt:lpstr>Wingdings</vt:lpstr>
      <vt:lpstr>Office Theme</vt:lpstr>
      <vt:lpstr>        Prediction Of  PTSD Severity       In  Veterans </vt:lpstr>
      <vt:lpstr>PowerPoint Presentation</vt:lpstr>
      <vt:lpstr>PowerPoint Presentation</vt:lpstr>
      <vt:lpstr> LITERATURE SURVEY</vt:lpstr>
      <vt:lpstr>PowerPoint Presentation</vt:lpstr>
      <vt:lpstr>PowerPoint Presentation</vt:lpstr>
      <vt:lpstr>PowerPoint Presentation</vt:lpstr>
      <vt:lpstr>LIST OF MODULES</vt:lpstr>
      <vt:lpstr>PowerPoint Presentation</vt:lpstr>
      <vt:lpstr>IMPLEMENTATION DETAILS</vt:lpstr>
      <vt:lpstr> </vt:lpstr>
      <vt:lpstr>DATASET DESCRIPTION</vt:lpstr>
      <vt:lpstr>PowerPoint Presentation</vt:lpstr>
      <vt:lpstr>PowerPoint Presentation</vt:lpstr>
      <vt:lpstr>PowerPoint Presentation</vt:lpstr>
      <vt:lpstr>Summary Of Issues</vt:lpstr>
      <vt:lpstr>PowerPoint Presentation</vt:lpstr>
      <vt:lpstr>OVERALL ARCHITECTURE</vt:lpstr>
      <vt:lpstr>PowerPoint Presentation</vt:lpstr>
      <vt:lpstr>PowerPoint Presentation</vt:lpstr>
      <vt:lpstr>PowerPoint Presentation</vt:lpstr>
      <vt:lpstr>PowerPoint Presentation</vt:lpstr>
      <vt:lpstr>PERFORMANCE MEASURES   Performance measures utilized for evaluation of the following:  </vt:lpstr>
      <vt:lpstr>PowerPoint Presentation</vt:lpstr>
      <vt:lpstr>PowerPoint Presentation</vt:lpstr>
      <vt:lpstr>ALGORITHMS USED &amp; ACCURACY: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Sonali Shruthi</dc:creator>
  <cp:lastModifiedBy>vishruthia32@gmail.com</cp:lastModifiedBy>
  <cp:revision>4</cp:revision>
  <dcterms:created xsi:type="dcterms:W3CDTF">2024-11-17T06:47:12Z</dcterms:created>
  <dcterms:modified xsi:type="dcterms:W3CDTF">2024-11-20T07:24:36Z</dcterms:modified>
</cp:coreProperties>
</file>